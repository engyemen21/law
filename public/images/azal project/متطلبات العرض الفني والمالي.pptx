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7A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0" y="4114800"/>
            <a:ext cx="2560320" cy="2560320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657985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011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iro"/>
              </a:rPr>
              <a:t>آزال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8A24B"/>
                </a:solidFill>
                <a:latin typeface="Cairo"/>
              </a:rPr>
              <a:t>للتمويل الإسلامي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Cairo"/>
              </a:rPr>
              <a:t>Islamic Finance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49039"/>
            <a:ext cx="182880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30175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iro"/>
              </a:rPr>
              <a:t>متطلبات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iro"/>
              </a:rPr>
              <a:t>تقديم العرض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C8A24B"/>
                </a:solidFill>
                <a:latin typeface="Cairo"/>
              </a:rPr>
              <a:t>عرض مختصر  · 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4000" b="1" i="0">
                <a:solidFill>
                  <a:srgbClr val="7A0F14"/>
                </a:solidFill>
                <a:latin typeface="Cairo"/>
              </a:rPr>
              <a:t>متطلبات العرض الفني</a:t>
            </a:r>
          </a:p>
          <a:p>
            <a:pPr algn="r" rtl="1">
              <a:lnSpc>
                <a:spcPct val="115000"/>
              </a:lnSpc>
            </a:pPr>
            <a:r>
              <a:rPr sz="4000" b="1" i="0">
                <a:solidFill>
                  <a:srgbClr val="7A0F14"/>
                </a:solidFill>
                <a:latin typeface="Cairo"/>
              </a:rPr>
              <a:t>والمالي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4114800"/>
            <a:ext cx="2286000" cy="4572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29768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00" b="0" i="0">
                <a:solidFill>
                  <a:srgbClr val="6B7280"/>
                </a:solidFill>
                <a:latin typeface="Cairo"/>
              </a:rPr>
              <a:t>مشروع تحديث الموقع الإلكتروني وبوابة العميل — برنامج آزال للتمويل الأصغر، يوليو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5394960"/>
            <a:ext cx="7132320" cy="822960"/>
          </a:xfrm>
          <a:prstGeom prst="rect">
            <a:avLst/>
          </a:prstGeom>
          <a:solidFill>
            <a:srgbClr val="FDF2F3"/>
          </a:solidFill>
          <a:ln w="9525">
            <a:solidFill>
              <a:srgbClr val="D9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5486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1" i="0">
                <a:solidFill>
                  <a:srgbClr val="7A0F14"/>
                </a:solidFill>
                <a:latin typeface="Cairo"/>
              </a:rPr>
              <a:t>معايير التقييم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77900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 i="0">
                <a:solidFill>
                  <a:srgbClr val="1E293B"/>
                </a:solidFill>
                <a:latin typeface="Cairo"/>
              </a:rPr>
              <a:t>الخبرة السابقة 30%   ·   المنهجية الفنية والجدول الزمني 20%   ·   جودة العرض المالي 50%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1065848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7A0F14"/>
                </a:solidFill>
                <a:latin typeface="Cairo"/>
              </a:rPr>
              <a:t>ما الذي يجب أن يتضمنه العرض؟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7295" y="1417320"/>
            <a:ext cx="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1444752"/>
            <a:ext cx="1828800" cy="3200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ملخص المتطلبات الإلزامية طبقاً لوثيقة الشروط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آزال للتمويل الإسلامي  ·  عرض متطلبات العرض الفني والمالي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5486400" cy="64008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2996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iro"/>
              </a:rPr>
              <a:t>العرض الفني  ·  Technical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560320"/>
            <a:ext cx="5486400" cy="3566160"/>
          </a:xfrm>
          <a:prstGeom prst="rect">
            <a:avLst/>
          </a:prstGeom>
          <a:solidFill>
            <a:srgbClr val="FDF2F3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697480"/>
            <a:ext cx="5029200" cy="3383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60000"/>
              </a:lnSpc>
              <a:spcAft>
                <a:spcPts val="1000"/>
              </a:spcAft>
            </a:pPr>
            <a:r>
              <a:rPr sz="1100" b="1">
                <a:solidFill>
                  <a:srgbClr val="A7171D"/>
                </a:solidFill>
                <a:latin typeface="Cairo"/>
              </a:rPr>
              <a:t>●  </a:t>
            </a:r>
            <a:r>
              <a:rPr sz="1400">
                <a:solidFill>
                  <a:srgbClr val="1E293B"/>
                </a:solidFill>
                <a:latin typeface="Cairo"/>
              </a:rPr>
              <a:t>منهجية العمل وإدارة المشروع</a:t>
            </a:r>
          </a:p>
          <a:p>
            <a:pPr algn="r" rtl="1">
              <a:lnSpc>
                <a:spcPct val="160000"/>
              </a:lnSpc>
              <a:spcAft>
                <a:spcPts val="1000"/>
              </a:spcAft>
            </a:pPr>
            <a:r>
              <a:rPr sz="1100" b="1">
                <a:solidFill>
                  <a:srgbClr val="A7171D"/>
                </a:solidFill>
                <a:latin typeface="Cairo"/>
              </a:rPr>
              <a:t>●  </a:t>
            </a:r>
            <a:r>
              <a:rPr sz="1400">
                <a:solidFill>
                  <a:srgbClr val="1E293B"/>
                </a:solidFill>
                <a:latin typeface="Cairo"/>
              </a:rPr>
              <a:t>الجدول الزمني التفصيلي مع نقاط التسليم</a:t>
            </a:r>
          </a:p>
          <a:p>
            <a:pPr algn="r" rtl="1">
              <a:lnSpc>
                <a:spcPct val="160000"/>
              </a:lnSpc>
              <a:spcAft>
                <a:spcPts val="1000"/>
              </a:spcAft>
            </a:pPr>
            <a:r>
              <a:rPr sz="1100" b="1">
                <a:solidFill>
                  <a:srgbClr val="A7171D"/>
                </a:solidFill>
                <a:latin typeface="Cairo"/>
              </a:rPr>
              <a:t>●  </a:t>
            </a:r>
            <a:r>
              <a:rPr sz="1400">
                <a:solidFill>
                  <a:srgbClr val="1E293B"/>
                </a:solidFill>
                <a:latin typeface="Cairo"/>
              </a:rPr>
              <a:t>سابقة الأعمال في مشاريع مشابهة</a:t>
            </a:r>
          </a:p>
          <a:p>
            <a:pPr algn="r" rtl="1">
              <a:lnSpc>
                <a:spcPct val="160000"/>
              </a:lnSpc>
              <a:spcAft>
                <a:spcPts val="1000"/>
              </a:spcAft>
            </a:pPr>
            <a:r>
              <a:rPr sz="1100" b="1">
                <a:solidFill>
                  <a:srgbClr val="A7171D"/>
                </a:solidFill>
                <a:latin typeface="Cairo"/>
              </a:rPr>
              <a:t>●  </a:t>
            </a:r>
            <a:r>
              <a:rPr sz="1400">
                <a:solidFill>
                  <a:srgbClr val="1E293B"/>
                </a:solidFill>
                <a:latin typeface="Cairo"/>
              </a:rPr>
              <a:t>خطة الأمان والجودة وأدوات الاختبار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20240"/>
            <a:ext cx="5486400" cy="6400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2996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iro"/>
              </a:rPr>
              <a:t>العرض المالي  ·  Financial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5486400" cy="3566160"/>
          </a:xfrm>
          <a:prstGeom prst="rect">
            <a:avLst/>
          </a:prstGeom>
          <a:solidFill>
            <a:srgbClr val="FEFA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97480"/>
            <a:ext cx="5029200" cy="3383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60000"/>
              </a:lnSpc>
              <a:spcAft>
                <a:spcPts val="1000"/>
              </a:spcAft>
            </a:pPr>
            <a:r>
              <a:rPr sz="1100" b="1">
                <a:solidFill>
                  <a:srgbClr val="C8A24B"/>
                </a:solidFill>
                <a:latin typeface="Cairo"/>
              </a:rPr>
              <a:t>●  </a:t>
            </a:r>
            <a:r>
              <a:rPr sz="1400">
                <a:solidFill>
                  <a:srgbClr val="1E293B"/>
                </a:solidFill>
                <a:latin typeface="Cairo"/>
              </a:rPr>
              <a:t>التكلفة الإجمالية موزّعة على المراحل</a:t>
            </a:r>
          </a:p>
          <a:p>
            <a:pPr algn="r" rtl="1">
              <a:lnSpc>
                <a:spcPct val="160000"/>
              </a:lnSpc>
              <a:spcAft>
                <a:spcPts val="1000"/>
              </a:spcAft>
            </a:pPr>
            <a:r>
              <a:rPr sz="1100" b="1">
                <a:solidFill>
                  <a:srgbClr val="C8A24B"/>
                </a:solidFill>
                <a:latin typeface="Cairo"/>
              </a:rPr>
              <a:t>●  </a:t>
            </a:r>
            <a:r>
              <a:rPr sz="1400">
                <a:solidFill>
                  <a:srgbClr val="1E293B"/>
                </a:solidFill>
                <a:latin typeface="Cairo"/>
              </a:rPr>
              <a:t>فترة الدعم والصيانة المجانية</a:t>
            </a:r>
          </a:p>
          <a:p>
            <a:pPr algn="r" rtl="1">
              <a:lnSpc>
                <a:spcPct val="160000"/>
              </a:lnSpc>
              <a:spcAft>
                <a:spcPts val="1000"/>
              </a:spcAft>
            </a:pPr>
            <a:r>
              <a:rPr sz="1100" b="1">
                <a:solidFill>
                  <a:srgbClr val="C8A24B"/>
                </a:solidFill>
                <a:latin typeface="Cairo"/>
              </a:rPr>
              <a:t>●  </a:t>
            </a:r>
            <a:r>
              <a:rPr sz="1400">
                <a:solidFill>
                  <a:srgbClr val="1E293B"/>
                </a:solidFill>
                <a:latin typeface="Cairo"/>
              </a:rPr>
              <a:t>تكلفة الصيانة السنوية بعد الضمان</a:t>
            </a:r>
          </a:p>
          <a:p>
            <a:pPr algn="r" rtl="1">
              <a:lnSpc>
                <a:spcPct val="160000"/>
              </a:lnSpc>
              <a:spcAft>
                <a:spcPts val="1000"/>
              </a:spcAft>
            </a:pPr>
            <a:r>
              <a:rPr sz="1100" b="1">
                <a:solidFill>
                  <a:srgbClr val="C8A24B"/>
                </a:solidFill>
                <a:latin typeface="Cairo"/>
              </a:rPr>
              <a:t>●  </a:t>
            </a:r>
            <a:r>
              <a:rPr sz="1400">
                <a:solidFill>
                  <a:srgbClr val="1E293B"/>
                </a:solidFill>
                <a:latin typeface="Cairo"/>
              </a:rPr>
              <a:t>أي تكاليف إضافية (تراخيص/أدوات)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55080"/>
            <a:ext cx="112772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1">
                <a:solidFill>
                  <a:srgbClr val="6B7280"/>
                </a:solidFill>
                <a:latin typeface="Cairo"/>
              </a:rPr>
              <a:t>ملاحظة: يجب أن يكون العرض المالي دقيقاً وشفافاً، مفصّلاً حسب البنود أعلاه.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1065848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7A0F14"/>
                </a:solidFill>
                <a:latin typeface="Cairo"/>
              </a:rPr>
              <a:t>متطلبات العرض الفني  ·  التفصيل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7295" y="1417320"/>
            <a:ext cx="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1444752"/>
            <a:ext cx="1828800" cy="3200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العناصر الأربعة الإلزامية الواجب تغطيتها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آزال للتمويل الإسلامي  ·  عرض متطلبات العرض الفني والمالي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5486400" cy="2148840"/>
          </a:xfrm>
          <a:prstGeom prst="rect">
            <a:avLst/>
          </a:prstGeom>
          <a:solidFill>
            <a:srgbClr val="FDF2F3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5486400" cy="54864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2996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A7171D"/>
                </a:solidFill>
                <a:latin typeface="Cairo"/>
              </a:rPr>
              <a:t>١ · منهجية العمل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77440"/>
            <a:ext cx="5212080" cy="1600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توضيح منهجية إدارة المشروع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تقسيم العمل إلى مراحل واضحة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آلية التنسيق والاعتماد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920240"/>
            <a:ext cx="5486400" cy="2148840"/>
          </a:xfrm>
          <a:prstGeom prst="rect">
            <a:avLst/>
          </a:prstGeom>
          <a:solidFill>
            <a:srgbClr val="FDF2F3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920240"/>
            <a:ext cx="5486400" cy="54864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02996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A7171D"/>
                </a:solidFill>
                <a:latin typeface="Cairo"/>
              </a:rPr>
              <a:t>٢ · الجدول الزمني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5212080" cy="1600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خطة زمنية تفصيلية لكل مرحلة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تحديد نقاط التسليم (Milestones)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مراحل المشروع السبع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5486400" cy="2148840"/>
          </a:xfrm>
          <a:prstGeom prst="rect">
            <a:avLst/>
          </a:prstGeom>
          <a:solidFill>
            <a:srgbClr val="FDF2F3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97680"/>
            <a:ext cx="5486400" cy="54864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0740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A7171D"/>
                </a:solidFill>
                <a:latin typeface="Cairo"/>
              </a:rPr>
              <a:t>٣ · سابقة الأعمال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754880"/>
            <a:ext cx="5212080" cy="1600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مشاريع مشابهة منفّذة سابقاً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باستخدام التقنيات المحددة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(Laravel · React/Vue · MySQL)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297680"/>
            <a:ext cx="5486400" cy="2148840"/>
          </a:xfrm>
          <a:prstGeom prst="rect">
            <a:avLst/>
          </a:prstGeom>
          <a:solidFill>
            <a:srgbClr val="FDF2F3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297680"/>
            <a:ext cx="5486400" cy="54864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40740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A7171D"/>
                </a:solidFill>
                <a:latin typeface="Cairo"/>
              </a:rPr>
              <a:t>٤ · الأمان والجودة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754880"/>
            <a:ext cx="5212080" cy="1600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أدوات اختبار الاختراق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أدوات فحص الثغرات الأمنية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التزام OWASP Top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1065848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7A0F14"/>
                </a:solidFill>
                <a:latin typeface="Cairo"/>
              </a:rPr>
              <a:t>متطلبات العرض المالي  ·  التفصيل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7295" y="1417320"/>
            <a:ext cx="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1444752"/>
            <a:ext cx="1828800" cy="3200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بنود التكلفة الأربعة الإلزامية — يجب أن تكون دقيقة وشفافة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آزال للتمويل الإسلامي  ·  عرض متطلبات العرض الفني والمالي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5486400" cy="2148840"/>
          </a:xfrm>
          <a:prstGeom prst="rect">
            <a:avLst/>
          </a:prstGeom>
          <a:solidFill>
            <a:srgbClr val="FEFA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5486400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2996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7A0F14"/>
                </a:solidFill>
                <a:latin typeface="Cairo"/>
              </a:rPr>
              <a:t>١ · التكلفة الإجمالية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77440"/>
            <a:ext cx="5212080" cy="1600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التكلفة الكلية للمشروع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موزّعة على المراحل الرئيسية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تفصيل دقيق لكل مرحلة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920240"/>
            <a:ext cx="5486400" cy="2148840"/>
          </a:xfrm>
          <a:prstGeom prst="rect">
            <a:avLst/>
          </a:prstGeom>
          <a:solidFill>
            <a:srgbClr val="FEFA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920240"/>
            <a:ext cx="5486400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02996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7A0F14"/>
                </a:solidFill>
                <a:latin typeface="Cairo"/>
              </a:rPr>
              <a:t>٢ · فترة الدعم المجاني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5212080" cy="1600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تحديد مدة الدعم الفني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والصيانة المجانية عقب التسليم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الحد الأدنى 6 أشهر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5486400" cy="2148840"/>
          </a:xfrm>
          <a:prstGeom prst="rect">
            <a:avLst/>
          </a:prstGeom>
          <a:solidFill>
            <a:srgbClr val="FEFA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97680"/>
            <a:ext cx="5486400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0740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7A0F14"/>
                </a:solidFill>
                <a:latin typeface="Cairo"/>
              </a:rPr>
              <a:t>٣ · الصيانة السنوية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754880"/>
            <a:ext cx="5212080" cy="1600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تكلفة الدعم الفني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والصيانة السنوية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بعد انتهاء فترة الضمان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297680"/>
            <a:ext cx="5486400" cy="2148840"/>
          </a:xfrm>
          <a:prstGeom prst="rect">
            <a:avLst/>
          </a:prstGeom>
          <a:solidFill>
            <a:srgbClr val="FEFA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297680"/>
            <a:ext cx="5486400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40740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7A0F14"/>
                </a:solidFill>
                <a:latin typeface="Cairo"/>
              </a:rPr>
              <a:t>٤ · التكاليف الإضافية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754880"/>
            <a:ext cx="5212080" cy="1600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توضيح أي تكاليف إضافية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متعلقة بتراخيص أو أدوات خارجية</a:t>
            </a:r>
          </a:p>
          <a:p>
            <a:pPr algn="r" rtl="1">
              <a:lnSpc>
                <a:spcPct val="130000"/>
              </a:lnSpc>
              <a:spcAft>
                <a:spcPts val="6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إن وُجدت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1065848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7A0F14"/>
                </a:solidFill>
                <a:latin typeface="Cairo"/>
              </a:rPr>
              <a:t>التقنيات الإلزامية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7295" y="1417320"/>
            <a:ext cx="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1444752"/>
            <a:ext cx="1828800" cy="3200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المعتمدة كحد أدنى — يجب الالتزام بها في العرض الفني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آزال للتمويل الإسلامي  ·  عرض متطلبات العرض الفني والمالي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73152" cy="192024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إطار العمل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23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7A0F14"/>
                </a:solidFill>
                <a:latin typeface="Cairo"/>
              </a:rPr>
              <a:t>Laravel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آخر إصدار مستقر</a:t>
            </a:r>
          </a:p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(لا يقل عن 11.x)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92024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920240"/>
            <a:ext cx="73152" cy="192024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103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لغة البرمجة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23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7A0F14"/>
                </a:solidFill>
                <a:latin typeface="Cairo"/>
              </a:rPr>
              <a:t>PHP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971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أحدث إصدار آمن</a:t>
            </a:r>
          </a:p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(لا يقل عن 8.4)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92024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920240"/>
            <a:ext cx="73152" cy="192024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103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الواجهات الأمامية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423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7A0F14"/>
                </a:solidFill>
                <a:latin typeface="Cairo"/>
              </a:rPr>
              <a:t>React.js / Vue.js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971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Frontend تفاعلي</a:t>
            </a:r>
          </a:p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حديث ومتجاوب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069080"/>
            <a:ext cx="73152" cy="192024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51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قاعدة البيانات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72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7A0F14"/>
                </a:solidFill>
                <a:latin typeface="Cairo"/>
              </a:rPr>
              <a:t>MySQL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2064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قاعدة مركزية موحدة</a:t>
            </a:r>
          </a:p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(بديلة عن المنفصلة)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06908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4069080"/>
            <a:ext cx="73152" cy="192024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251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معمارية APIs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572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7A0F14"/>
                </a:solidFill>
                <a:latin typeface="Cairo"/>
              </a:rPr>
              <a:t>RESTful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12064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Full REST APIs</a:t>
            </a:r>
          </a:p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حديثة ونظيفة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406908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4069080"/>
            <a:ext cx="73152" cy="192024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4251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معيار الأمان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572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7A0F14"/>
                </a:solidFill>
                <a:latin typeface="Cairo"/>
              </a:rPr>
              <a:t>OWASP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12064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Top 10</a:t>
            </a:r>
          </a:p>
          <a:p>
            <a:pPr algn="r" rtl="1">
              <a:lnSpc>
                <a:spcPct val="13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ضمان أمن البيانات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1065848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7A0F14"/>
                </a:solidFill>
                <a:latin typeface="Cairo"/>
              </a:rPr>
              <a:t>القيود الصارمة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7295" y="1417320"/>
            <a:ext cx="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1444752"/>
            <a:ext cx="1828800" cy="3200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شروط يجب أن يعكسها العرض التزاماً كاملاً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آزال للتمويل الإسلامي  ·  عرض متطلبات العرض الفني والمالي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3657600" cy="1737360"/>
          </a:xfrm>
          <a:prstGeom prst="rect">
            <a:avLst/>
          </a:prstGeom>
          <a:solidFill>
            <a:srgbClr val="FDF2F3"/>
          </a:solidFill>
          <a:ln w="15875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3657600" cy="6400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40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7A0F14"/>
                </a:solidFill>
                <a:latin typeface="Cairo"/>
              </a:rPr>
              <a:t>Zero Downtime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تنفيذ دون أي انقطاع للخدمة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920240"/>
            <a:ext cx="3657600" cy="1737360"/>
          </a:xfrm>
          <a:prstGeom prst="rect">
            <a:avLst/>
          </a:prstGeom>
          <a:solidFill>
            <a:srgbClr val="FDF2F3"/>
          </a:solidFill>
          <a:ln w="15875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920240"/>
            <a:ext cx="3657600" cy="6400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240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7A0F14"/>
                </a:solidFill>
                <a:latin typeface="Cairo"/>
              </a:rPr>
              <a:t>توافق رجعي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889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للـ APIs مع تطبيق الهاتف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920240"/>
            <a:ext cx="3657600" cy="1737360"/>
          </a:xfrm>
          <a:prstGeom prst="rect">
            <a:avLst/>
          </a:prstGeom>
          <a:solidFill>
            <a:srgbClr val="FDF2F3"/>
          </a:solidFill>
          <a:ln w="15875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920240"/>
            <a:ext cx="3657600" cy="6400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240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7A0F14"/>
                </a:solidFill>
                <a:latin typeface="Cairo"/>
              </a:rPr>
              <a:t>ترحيل 100% للبيانات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7889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دون فقدان أي معلومة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3657600" cy="1737360"/>
          </a:xfrm>
          <a:prstGeom prst="rect">
            <a:avLst/>
          </a:prstGeom>
          <a:solidFill>
            <a:srgbClr val="FDF2F3"/>
          </a:solidFill>
          <a:ln w="15875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3657600" cy="6400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7A0F14"/>
                </a:solidFill>
                <a:latin typeface="Cairo"/>
              </a:rPr>
              <a:t>لا لتعديل التطبيق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5488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عدم المساس بتطبيق الهاتف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886200"/>
            <a:ext cx="3657600" cy="1737360"/>
          </a:xfrm>
          <a:prstGeom prst="rect">
            <a:avLst/>
          </a:prstGeom>
          <a:solidFill>
            <a:srgbClr val="FDF2F3"/>
          </a:solidFill>
          <a:ln w="15875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886200"/>
            <a:ext cx="3657600" cy="6400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7A0F14"/>
                </a:solidFill>
                <a:latin typeface="Cairo"/>
              </a:rPr>
              <a:t>Custom CMS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75488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لا أنظمة جاهزة (Runner/Voyager)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886200"/>
            <a:ext cx="3657600" cy="1737360"/>
          </a:xfrm>
          <a:prstGeom prst="rect">
            <a:avLst/>
          </a:prstGeom>
          <a:solidFill>
            <a:srgbClr val="FDF2F3"/>
          </a:solidFill>
          <a:ln w="15875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886200"/>
            <a:ext cx="3657600" cy="6400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7A0F14"/>
                </a:solidFill>
                <a:latin typeface="Cairo"/>
              </a:rPr>
              <a:t>ضمان 6 أشهر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75488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دعم وصيانة مجانية بعد التسليم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1065848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7A0F14"/>
                </a:solidFill>
                <a:latin typeface="Cairo"/>
              </a:rPr>
              <a:t>معايير القبول والشروط العامة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7295" y="1417320"/>
            <a:ext cx="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1444752"/>
            <a:ext cx="1828800" cy="3200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ما يجعل العرض مقبولاً ومرشّحاً للاعتماد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آزال للتمويل الإسلامي  ·  عرض متطلبات العرض الفني والمالي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486400" cy="54864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99339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iro"/>
              </a:rPr>
              <a:t>معايير القبول النهائي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468880"/>
            <a:ext cx="5486400" cy="3474720"/>
          </a:xfrm>
          <a:prstGeom prst="rect">
            <a:avLst/>
          </a:prstGeom>
          <a:solidFill>
            <a:srgbClr val="FDF2F3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606040"/>
            <a:ext cx="5029200" cy="32918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60000"/>
              </a:lnSpc>
              <a:spcAft>
                <a:spcPts val="10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نجاح جميع الاختبارات الفنية دون استثناء</a:t>
            </a:r>
          </a:p>
          <a:p>
            <a:pPr algn="r" rtl="1">
              <a:lnSpc>
                <a:spcPct val="160000"/>
              </a:lnSpc>
              <a:spcAft>
                <a:spcPts val="10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نجاح ترحيل البيانات بنسبة 100%</a:t>
            </a:r>
          </a:p>
          <a:p>
            <a:pPr algn="r" rtl="1">
              <a:lnSpc>
                <a:spcPct val="160000"/>
              </a:lnSpc>
              <a:spcAft>
                <a:spcPts val="10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توافق تطبيق الهاتف وعمله دون انقطاع</a:t>
            </a:r>
          </a:p>
          <a:p>
            <a:pPr algn="r" rtl="1">
              <a:lnSpc>
                <a:spcPct val="160000"/>
              </a:lnSpc>
              <a:spcAft>
                <a:spcPts val="10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إغلاق كل الثغرات والأخطاء الحرجة والمتوسطة</a:t>
            </a:r>
          </a:p>
          <a:p>
            <a:pPr algn="r" rtl="1">
              <a:lnSpc>
                <a:spcPct val="160000"/>
              </a:lnSpc>
              <a:spcAft>
                <a:spcPts val="10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الحصول على الاعتماد الرسمي من إدارة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20240"/>
            <a:ext cx="5486400" cy="548640"/>
          </a:xfrm>
          <a:prstGeom prst="rect">
            <a:avLst/>
          </a:prstGeom>
          <a:solidFill>
            <a:srgbClr val="7A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9339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iro"/>
              </a:rPr>
              <a:t>الشروط العامة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68880"/>
            <a:ext cx="5486400" cy="3474720"/>
          </a:xfrm>
          <a:prstGeom prst="rect">
            <a:avLst/>
          </a:prstGeom>
          <a:solidFill>
            <a:srgbClr val="FEFA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06040"/>
            <a:ext cx="5029200" cy="32918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900" b="1">
                <a:solidFill>
                  <a:srgbClr val="7A0F14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ملكية كاملة للأكواد والبيانات لبرنامج آزال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900" b="1">
                <a:solidFill>
                  <a:srgbClr val="7A0F14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تسليم الكود المصدري كاملاً دون تشفير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900" b="1">
                <a:solidFill>
                  <a:srgbClr val="7A0F14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لا مكتبات مدفوعة إلا بموافقة البرنامج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900" b="1">
                <a:solidFill>
                  <a:srgbClr val="7A0F14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توثيق شامل لكل مكونات النظام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900" b="1">
                <a:solidFill>
                  <a:srgbClr val="7A0F14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سرية تامة للبيانات أثناء التنفيذ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900" b="1">
                <a:solidFill>
                  <a:srgbClr val="7A0F14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اعتماد مرحلي قبل الانتقال لكل مرحلة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914400"/>
            <a:ext cx="189484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1168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 i="0">
                <a:solidFill>
                  <a:srgbClr val="C8A24B"/>
                </a:solidFill>
                <a:latin typeface="Cairo"/>
              </a:rPr>
              <a:t>خلاصة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Cairo"/>
              </a:rPr>
              <a:t>تقديم عرض فني ومالي متكامل</a:t>
            </a:r>
          </a:p>
          <a:p>
            <a:pPr algn="ctr" rtl="1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Cairo"/>
              </a:rPr>
              <a:t>يلبّي جميع متطلبات المناقصة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4297680"/>
            <a:ext cx="1371600" cy="4572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32407" y="4663440"/>
            <a:ext cx="2926080" cy="822960"/>
          </a:xfrm>
          <a:prstGeom prst="roundRect">
            <a:avLst/>
          </a:prstGeom>
          <a:noFill/>
          <a:ln w="19050">
            <a:solidFill>
              <a:srgbClr val="D9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32407" y="4892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D94A50"/>
                </a:solidFill>
                <a:latin typeface="Cairo"/>
              </a:rPr>
              <a:t>عرض فني شامل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2807" y="4663440"/>
            <a:ext cx="2926080" cy="822960"/>
          </a:xfrm>
          <a:prstGeom prst="roundRect">
            <a:avLst/>
          </a:prstGeom>
          <a:noFill/>
          <a:ln w="1905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807" y="4892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8A24B"/>
                </a:solidFill>
                <a:latin typeface="Cairo"/>
              </a:rPr>
              <a:t>عرض مالي دقيق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33207" y="4663440"/>
            <a:ext cx="2926080" cy="822960"/>
          </a:xfrm>
          <a:prstGeom prst="round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3207" y="4892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iro"/>
              </a:rPr>
              <a:t>التزام بالقيود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C8A24B"/>
                </a:solidFill>
                <a:latin typeface="Cairo"/>
              </a:rPr>
              <a:t>آزال للتمويل الإسلامي  ·  مشروع تحديث الموقع الإلكتروني وبوابة العميل  ·  يوليو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