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2" r:id="rId23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4A0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-1188720"/>
            <a:ext cx="3291840" cy="3291840"/>
          </a:xfrm>
          <a:prstGeom prst="ellipse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0" y="4297680"/>
            <a:ext cx="2560320" cy="2560320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z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94360"/>
            <a:ext cx="1776412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96596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C8A24B"/>
                </a:solidFill>
                <a:latin typeface="Cairo"/>
              </a:rPr>
              <a:t>عرض فني ومالي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514600"/>
            <a:ext cx="1828800" cy="3657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697480"/>
            <a:ext cx="3566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FFFFF"/>
                </a:solidFill>
                <a:latin typeface="Cairo"/>
              </a:rPr>
              <a:t>مقدّم إلى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FFFFF"/>
                </a:solidFill>
                <a:latin typeface="Cairo"/>
              </a:rPr>
              <a:t>برنامج آزال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FFFFF"/>
                </a:solidFill>
                <a:latin typeface="Cairo"/>
              </a:rPr>
              <a:t>للتمويل الإسلامي الأصغر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76072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8A24B"/>
                </a:solidFill>
                <a:latin typeface="Cairo"/>
              </a:rPr>
              <a:t>يوليو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3716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C8A24B"/>
                </a:solidFill>
                <a:latin typeface="Cairo"/>
              </a:rPr>
              <a:t>عرض مناقصة رسمي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920240"/>
            <a:ext cx="6858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2000"/>
              </a:lnSpc>
            </a:pPr>
            <a:r>
              <a:rPr sz="3800" b="1" i="0">
                <a:solidFill>
                  <a:srgbClr val="6B0E13"/>
                </a:solidFill>
                <a:latin typeface="Cairo"/>
              </a:rPr>
              <a:t>مشروع تحديث</a:t>
            </a:r>
          </a:p>
          <a:p>
            <a:pPr algn="r" rtl="1">
              <a:lnSpc>
                <a:spcPct val="112000"/>
              </a:lnSpc>
            </a:pPr>
            <a:r>
              <a:rPr sz="3800" b="1" i="0">
                <a:solidFill>
                  <a:srgbClr val="6B0E13"/>
                </a:solidFill>
                <a:latin typeface="Cairo"/>
              </a:rPr>
              <a:t>الموقع الإلكتروني</a:t>
            </a:r>
          </a:p>
          <a:p>
            <a:pPr algn="r" rtl="1">
              <a:lnSpc>
                <a:spcPct val="112000"/>
              </a:lnSpc>
            </a:pPr>
            <a:r>
              <a:rPr sz="3800" b="1" i="0">
                <a:solidFill>
                  <a:srgbClr val="6B0E13"/>
                </a:solidFill>
                <a:latin typeface="Cairo"/>
              </a:rPr>
              <a:t>وبوابة العميل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4920" y="4526280"/>
            <a:ext cx="2286000" cy="4572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470916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300" b="0" i="0">
                <a:solidFill>
                  <a:srgbClr val="6B7280"/>
                </a:solidFill>
                <a:latin typeface="Cairo"/>
              </a:rPr>
              <a:t>إعادة بناء شاملة وتحديث تقني للمنصة الرقمية، مع توحيد قواعد البيانات، وضمان استمرارية تطبيق الهاتف المحمول.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5806440"/>
            <a:ext cx="6675120" cy="731520"/>
          </a:xfrm>
          <a:prstGeom prst="rect">
            <a:avLst/>
          </a:prstGeom>
          <a:solidFill>
            <a:srgbClr val="FDF2F3"/>
          </a:solidFill>
          <a:ln w="9525">
            <a:solidFill>
              <a:srgbClr val="D9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58978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1" i="0">
                <a:solidFill>
                  <a:srgbClr val="6B7280"/>
                </a:solidFill>
                <a:latin typeface="Cairo"/>
              </a:rPr>
              <a:t>مقدّم العرض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614476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1" i="0">
                <a:solidFill>
                  <a:srgbClr val="6B0E13"/>
                </a:solidFill>
                <a:latin typeface="Cairo"/>
              </a:rPr>
              <a:t>[اسم شركتك]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58978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280"/>
                </a:solidFill>
                <a:latin typeface="Cairo"/>
              </a:rPr>
              <a:t>تقديم إلى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614476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6B0E13"/>
                </a:solidFill>
                <a:latin typeface="Cairo"/>
              </a:rPr>
              <a:t>إدارة تقنية المعلومات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z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6032"/>
            <a:ext cx="99479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 i="0">
                <a:solidFill>
                  <a:srgbClr val="6B0E13"/>
                </a:solidFill>
                <a:latin typeface="Cairo"/>
              </a:rPr>
              <a:t>أجندة العرض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1444752"/>
            <a:ext cx="1463040" cy="3657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iro"/>
              </a:rPr>
              <a:t>ما سنتناوله في هذا اللقاء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iro"/>
              </a:rPr>
              <a:t>عرض فني ومالي  ·  مشروع تحديث الموقع الإلكتروني وبوابة العميل  ·  [اسم شركتك]  ·  سرّي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2788920" cy="1051560"/>
          </a:xfrm>
          <a:prstGeom prst="rect">
            <a:avLst/>
          </a:prstGeom>
          <a:solidFill>
            <a:srgbClr val="FDF2F3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965960"/>
            <a:ext cx="640080" cy="1051560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130552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ir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10312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1" i="0">
                <a:solidFill>
                  <a:srgbClr val="6B0E13"/>
                </a:solidFill>
                <a:latin typeface="Cairo"/>
              </a:rPr>
              <a:t>نبذة عن المقدِّم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532888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من نحن وقدراتنا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56432" y="1965960"/>
            <a:ext cx="2788920" cy="1051560"/>
          </a:xfrm>
          <a:prstGeom prst="rect">
            <a:avLst/>
          </a:prstGeom>
          <a:solidFill>
            <a:srgbClr val="FDF2F3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56432" y="1965960"/>
            <a:ext cx="640080" cy="105156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6432" y="2130552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iro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7952" y="210312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1" i="0">
                <a:solidFill>
                  <a:srgbClr val="6B0E13"/>
                </a:solidFill>
                <a:latin typeface="Cairo"/>
              </a:rPr>
              <a:t>فهم المشروع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2532888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تشخيص الوضع الراهن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9944" y="1965960"/>
            <a:ext cx="2788920" cy="1051560"/>
          </a:xfrm>
          <a:prstGeom prst="rect">
            <a:avLst/>
          </a:prstGeom>
          <a:solidFill>
            <a:srgbClr val="FDF2F3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9944" y="1965960"/>
            <a:ext cx="640080" cy="1051560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9944" y="2130552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iro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1464" y="210312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1" i="0">
                <a:solidFill>
                  <a:srgbClr val="6B0E13"/>
                </a:solidFill>
                <a:latin typeface="Cairo"/>
              </a:rPr>
              <a:t>الحل التقني المقترح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1464" y="2532888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المعمارية والتقنيات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63456" y="1965960"/>
            <a:ext cx="2788920" cy="1051560"/>
          </a:xfrm>
          <a:prstGeom prst="rect">
            <a:avLst/>
          </a:prstGeom>
          <a:solidFill>
            <a:srgbClr val="FDF2F3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63456" y="1965960"/>
            <a:ext cx="640080" cy="105156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63456" y="2130552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iro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94976" y="210312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1" i="0">
                <a:solidFill>
                  <a:srgbClr val="6B0E13"/>
                </a:solidFill>
                <a:latin typeface="Cairo"/>
              </a:rPr>
              <a:t>المنهجية والجدول الزمني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94976" y="2532888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Agile + المراحل السبع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218688"/>
            <a:ext cx="2788920" cy="1051560"/>
          </a:xfrm>
          <a:prstGeom prst="rect">
            <a:avLst/>
          </a:prstGeom>
          <a:solidFill>
            <a:srgbClr val="FDF2F3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218688"/>
            <a:ext cx="640080" cy="1051560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383280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iro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3355848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1" i="0">
                <a:solidFill>
                  <a:srgbClr val="6B0E13"/>
                </a:solidFill>
                <a:latin typeface="Cairo"/>
              </a:rPr>
              <a:t>الأمن وجودة البيانات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3785616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OWASP والترحيل الآمن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56432" y="3218688"/>
            <a:ext cx="2788920" cy="1051560"/>
          </a:xfrm>
          <a:prstGeom prst="rect">
            <a:avLst/>
          </a:prstGeom>
          <a:solidFill>
            <a:srgbClr val="FDF2F3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56432" y="3218688"/>
            <a:ext cx="640080" cy="105156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56432" y="3383280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iro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87952" y="3355848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1" i="0">
                <a:solidFill>
                  <a:srgbClr val="6B0E13"/>
                </a:solidFill>
                <a:latin typeface="Cairo"/>
              </a:rPr>
              <a:t>الفريق وسابقة الأعمال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87952" y="3785616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الخبرة المثبتة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9944" y="3218688"/>
            <a:ext cx="2788920" cy="1051560"/>
          </a:xfrm>
          <a:prstGeom prst="rect">
            <a:avLst/>
          </a:prstGeom>
          <a:solidFill>
            <a:srgbClr val="FDF2F3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9944" y="3218688"/>
            <a:ext cx="640080" cy="1051560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9944" y="3383280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iro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41464" y="3355848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1" i="0">
                <a:solidFill>
                  <a:srgbClr val="6B0E13"/>
                </a:solidFill>
                <a:latin typeface="Cairo"/>
              </a:rPr>
              <a:t>العرض المالي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41464" y="3785616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تفصيل التكاليف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63456" y="3218688"/>
            <a:ext cx="2788920" cy="1051560"/>
          </a:xfrm>
          <a:prstGeom prst="rect">
            <a:avLst/>
          </a:prstGeom>
          <a:solidFill>
            <a:srgbClr val="FDF2F3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363456" y="3218688"/>
            <a:ext cx="640080" cy="105156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63456" y="3383280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iro"/>
              </a:rP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94976" y="3355848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1" i="0">
                <a:solidFill>
                  <a:srgbClr val="6B0E13"/>
                </a:solidFill>
                <a:latin typeface="Cairo"/>
              </a:rPr>
              <a:t>الالتزامات والقبول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94976" y="3785616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ضمانات التسليم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z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6032"/>
            <a:ext cx="99479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 i="0">
                <a:solidFill>
                  <a:srgbClr val="6B0E13"/>
                </a:solidFill>
                <a:latin typeface="Cairo"/>
              </a:rPr>
              <a:t>نبذة عن المقدِّم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1444752"/>
            <a:ext cx="1463040" cy="3657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iro"/>
              </a:rPr>
              <a:t>من نحن، وماذا نقدّم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iro"/>
              </a:rPr>
              <a:t>عرض فني ومالي  ·  مشروع تحديث الموقع الإلكتروني وبوابة العميل  ·  [اسم شركتك]  ·  سرّي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920240"/>
            <a:ext cx="5440680" cy="502920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75104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iro"/>
              </a:rPr>
              <a:t>من نحن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423160"/>
            <a:ext cx="5440680" cy="3520440"/>
          </a:xfrm>
          <a:prstGeom prst="rect">
            <a:avLst/>
          </a:prstGeom>
          <a:solidFill>
            <a:srgbClr val="FDF2F3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606040"/>
            <a:ext cx="5029200" cy="32004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r" rtl="1">
              <a:lnSpc>
                <a:spcPct val="150000"/>
              </a:lnSpc>
              <a:spcAft>
                <a:spcPts val="1200"/>
              </a:spcAft>
            </a:pPr>
            <a:r>
              <a:rPr sz="1100" b="1">
                <a:solidFill>
                  <a:srgbClr val="A7171D"/>
                </a:solidFill>
                <a:latin typeface="Cairo"/>
              </a:rPr>
              <a:t>●  </a:t>
            </a:r>
            <a:r>
              <a:rPr sz="1400">
                <a:solidFill>
                  <a:srgbClr val="1E293B"/>
                </a:solidFill>
                <a:latin typeface="Cairo"/>
              </a:rPr>
              <a:t>شركة متخصصة في تطوير الأنظمة المؤسسية والمنصّات الرقمية</a:t>
            </a:r>
          </a:p>
          <a:p>
            <a:pPr algn="r" rtl="1">
              <a:lnSpc>
                <a:spcPct val="150000"/>
              </a:lnSpc>
              <a:spcAft>
                <a:spcPts val="1200"/>
              </a:spcAft>
            </a:pPr>
            <a:r>
              <a:rPr sz="1100" b="1">
                <a:solidFill>
                  <a:srgbClr val="A7171D"/>
                </a:solidFill>
                <a:latin typeface="Cairo"/>
              </a:rPr>
              <a:t>●  </a:t>
            </a:r>
            <a:r>
              <a:rPr sz="1400">
                <a:solidFill>
                  <a:srgbClr val="1E293B"/>
                </a:solidFill>
                <a:latin typeface="Cairo"/>
              </a:rPr>
              <a:t>خبرة مثبتة في إعادة هندسة وتوحيد الأنظمة القائمة</a:t>
            </a:r>
          </a:p>
          <a:p>
            <a:pPr algn="r" rtl="1">
              <a:lnSpc>
                <a:spcPct val="150000"/>
              </a:lnSpc>
              <a:spcAft>
                <a:spcPts val="1200"/>
              </a:spcAft>
            </a:pPr>
            <a:r>
              <a:rPr sz="1100" b="1">
                <a:solidFill>
                  <a:srgbClr val="A7171D"/>
                </a:solidFill>
                <a:latin typeface="Cairo"/>
              </a:rPr>
              <a:t>●  </a:t>
            </a:r>
            <a:r>
              <a:rPr sz="1400">
                <a:solidFill>
                  <a:srgbClr val="1E293B"/>
                </a:solidFill>
                <a:latin typeface="Cairo"/>
              </a:rPr>
              <a:t>إتقان عميق لإطار Laravel وتقنيات الويب الحديثة</a:t>
            </a:r>
          </a:p>
          <a:p>
            <a:pPr algn="r" rtl="1">
              <a:lnSpc>
                <a:spcPct val="150000"/>
              </a:lnSpc>
              <a:spcAft>
                <a:spcPts val="1200"/>
              </a:spcAft>
            </a:pPr>
            <a:r>
              <a:rPr sz="1100" b="1">
                <a:solidFill>
                  <a:srgbClr val="A7171D"/>
                </a:solidFill>
                <a:latin typeface="Cairo"/>
              </a:rPr>
              <a:t>●  </a:t>
            </a:r>
            <a:r>
              <a:rPr sz="1400">
                <a:solidFill>
                  <a:srgbClr val="1E293B"/>
                </a:solidFill>
                <a:latin typeface="Cairo"/>
              </a:rPr>
              <a:t>فريق يجمع بين الكفاءة التقنية والالتزام بالمواعيد</a:t>
            </a:r>
          </a:p>
          <a:p>
            <a:pPr algn="r" rtl="1">
              <a:lnSpc>
                <a:spcPct val="150000"/>
              </a:lnSpc>
              <a:spcAft>
                <a:spcPts val="1200"/>
              </a:spcAft>
            </a:pPr>
            <a:r>
              <a:rPr sz="1100" b="1">
                <a:solidFill>
                  <a:srgbClr val="A7171D"/>
                </a:solidFill>
                <a:latin typeface="Cairo"/>
              </a:rPr>
              <a:t>●  </a:t>
            </a:r>
            <a:r>
              <a:rPr sz="1400">
                <a:solidFill>
                  <a:srgbClr val="1E293B"/>
                </a:solidFill>
                <a:latin typeface="Cairo"/>
              </a:rPr>
              <a:t>سجلّ حافل بمشاريع قطاع الخدمات المالية والحكومية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9202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1" i="0">
                <a:solidFill>
                  <a:srgbClr val="6B0E13"/>
                </a:solidFill>
                <a:latin typeface="Cairo"/>
              </a:rPr>
              <a:t>بالأرقام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23160"/>
            <a:ext cx="2651760" cy="1554480"/>
          </a:xfrm>
          <a:prstGeom prst="rect">
            <a:avLst/>
          </a:prstGeom>
          <a:solidFill>
            <a:srgbClr val="FDF2F3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47640"/>
            <a:ext cx="2651760" cy="30000"/>
          </a:xfrm>
          <a:prstGeom prst="rect">
            <a:avLst/>
          </a:prstGeom>
          <a:solidFill>
            <a:srgbClr val="6B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60604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6B0E13"/>
                </a:solidFill>
                <a:latin typeface="Cairo"/>
              </a:rPr>
              <a:t>+8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004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Cairo"/>
              </a:rPr>
              <a:t>سنوات خبرة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2423160"/>
            <a:ext cx="2651760" cy="1554480"/>
          </a:xfrm>
          <a:prstGeom prst="rect">
            <a:avLst/>
          </a:prstGeom>
          <a:solidFill>
            <a:srgbClr val="FDF2F3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91840" y="3947640"/>
            <a:ext cx="2651760" cy="30000"/>
          </a:xfrm>
          <a:prstGeom prst="rect">
            <a:avLst/>
          </a:prstGeom>
          <a:solidFill>
            <a:srgbClr val="8A6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60604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8A6D20"/>
                </a:solidFill>
                <a:latin typeface="Cairo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2004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Cairo"/>
              </a:rPr>
              <a:t>مشاريع مُنجزة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60520"/>
            <a:ext cx="2651760" cy="1554480"/>
          </a:xfrm>
          <a:prstGeom prst="rect">
            <a:avLst/>
          </a:prstGeom>
          <a:solidFill>
            <a:srgbClr val="FDF2F3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685000"/>
            <a:ext cx="2651760" cy="30000"/>
          </a:xfrm>
          <a:prstGeom prst="rect">
            <a:avLst/>
          </a:prstGeom>
          <a:solidFill>
            <a:srgbClr val="6B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34340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6B0E13"/>
                </a:solidFill>
                <a:latin typeface="Cairo"/>
              </a:rPr>
              <a:t>40+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9377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Cairo"/>
              </a:rPr>
              <a:t>أنظمة مُطلقة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4160520"/>
            <a:ext cx="2651760" cy="1554480"/>
          </a:xfrm>
          <a:prstGeom prst="rect">
            <a:avLst/>
          </a:prstGeom>
          <a:solidFill>
            <a:srgbClr val="FDF2F3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91840" y="5685000"/>
            <a:ext cx="2651760" cy="30000"/>
          </a:xfrm>
          <a:prstGeom prst="rect">
            <a:avLst/>
          </a:prstGeom>
          <a:solidFill>
            <a:srgbClr val="8A6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434340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8A6D20"/>
                </a:solidFill>
                <a:latin typeface="Cairo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49377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Cairo"/>
              </a:rPr>
              <a:t>انقطاعات حرجة</a:t>
            </a:r>
          </a:p>
        </p:txBody>
      </p:sp>
      <p:pic>
        <p:nvPicPr>
          <p:cNvPr id="31" name="Picture 30" descr="az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5897880"/>
            <a:ext cx="118427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z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6032"/>
            <a:ext cx="99479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 i="0">
                <a:solidFill>
                  <a:srgbClr val="6B0E13"/>
                </a:solidFill>
                <a:latin typeface="Cairo"/>
              </a:rPr>
              <a:t>فهم الوضع الراهن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1444752"/>
            <a:ext cx="1463040" cy="3657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iro"/>
              </a:rPr>
              <a:t>ثلاثة أنظمة منفصلة تماماً — هذه هي نقطة الانطلاق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iro"/>
              </a:rPr>
              <a:t>عرض فني ومالي  ·  مشروع تحديث الموقع الإلكتروني وبوابة العميل  ·  [اسم شركتك]  ·  سرّي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3657600" cy="640080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65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iro"/>
              </a:rPr>
              <a:t>الموقع الإلكتروني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042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FFFFFF"/>
                </a:solidFill>
                <a:latin typeface="Cairo"/>
              </a:rPr>
              <a:t>azal-ye.com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3657600" cy="3566160"/>
          </a:xfrm>
          <a:prstGeom prst="rect">
            <a:avLst/>
          </a:prstGeom>
          <a:solidFill>
            <a:srgbClr val="FDF2F3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974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1" i="0">
                <a:solidFill>
                  <a:srgbClr val="6B7280"/>
                </a:solidFill>
                <a:latin typeface="Cairo"/>
              </a:rPr>
              <a:t>التقنية الحالية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17520"/>
            <a:ext cx="3291840" cy="14630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400"/>
              </a:spcAft>
            </a:pPr>
            <a:r>
              <a:rPr sz="900" b="1">
                <a:solidFill>
                  <a:srgbClr val="A7171D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Laravel قديم</a:t>
            </a:r>
          </a:p>
          <a:p>
            <a:pPr algn="r" rtl="1">
              <a:lnSpc>
                <a:spcPct val="130000"/>
              </a:lnSpc>
              <a:spcAft>
                <a:spcPts val="400"/>
              </a:spcAft>
            </a:pPr>
            <a:r>
              <a:rPr sz="900" b="1">
                <a:solidFill>
                  <a:srgbClr val="A7171D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PHP 5.6</a:t>
            </a:r>
          </a:p>
          <a:p>
            <a:pPr algn="r" rtl="1">
              <a:lnSpc>
                <a:spcPct val="130000"/>
              </a:lnSpc>
              <a:spcAft>
                <a:spcPts val="400"/>
              </a:spcAft>
            </a:pPr>
            <a:r>
              <a:rPr sz="900" b="1">
                <a:solidFill>
                  <a:srgbClr val="A7171D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لوحة Runner</a:t>
            </a:r>
          </a:p>
          <a:p>
            <a:pPr algn="r" rtl="1">
              <a:lnSpc>
                <a:spcPct val="130000"/>
              </a:lnSpc>
              <a:spcAft>
                <a:spcPts val="400"/>
              </a:spcAft>
            </a:pPr>
            <a:r>
              <a:rPr sz="900" b="1">
                <a:solidFill>
                  <a:srgbClr val="A7171D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Blade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17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1" i="0">
                <a:solidFill>
                  <a:srgbClr val="6B7280"/>
                </a:solidFill>
                <a:latin typeface="Cairo"/>
              </a:rPr>
              <a:t>المشكلة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3776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00" b="0" i="0">
                <a:solidFill>
                  <a:srgbClr val="1E293B"/>
                </a:solidFill>
                <a:latin typeface="Cairo"/>
              </a:rPr>
              <a:t>إصدار متقادم</a:t>
            </a:r>
          </a:p>
          <a:p>
            <a:pPr algn="r" rtl="1">
              <a:lnSpc>
                <a:spcPct val="140000"/>
              </a:lnSpc>
            </a:pPr>
            <a:r>
              <a:rPr sz="1200" b="0" i="0">
                <a:solidFill>
                  <a:srgbClr val="1E293B"/>
                </a:solidFill>
                <a:latin typeface="Cairo"/>
              </a:rPr>
              <a:t>واجهات غير متجاوبة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920240"/>
            <a:ext cx="3657600" cy="640080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1965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iro"/>
              </a:rPr>
              <a:t>بوابة العميل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3042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FFFFFF"/>
                </a:solidFill>
                <a:latin typeface="Cairo"/>
              </a:rPr>
              <a:t>app.azal-ye.com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2560320"/>
            <a:ext cx="3657600" cy="3566160"/>
          </a:xfrm>
          <a:prstGeom prst="rect">
            <a:avLst/>
          </a:prstGeom>
          <a:solidFill>
            <a:srgbClr val="FDF2F3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26974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1" i="0">
                <a:solidFill>
                  <a:srgbClr val="6B7280"/>
                </a:solidFill>
                <a:latin typeface="Cairo"/>
              </a:rPr>
              <a:t>التقنية الحالية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017520"/>
            <a:ext cx="3291840" cy="14630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400"/>
              </a:spcAft>
            </a:pPr>
            <a:r>
              <a:rPr sz="900" b="1">
                <a:solidFill>
                  <a:srgbClr val="A7171D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PHP 8.0</a:t>
            </a:r>
          </a:p>
          <a:p>
            <a:pPr algn="r" rtl="1">
              <a:lnSpc>
                <a:spcPct val="130000"/>
              </a:lnSpc>
              <a:spcAft>
                <a:spcPts val="400"/>
              </a:spcAft>
            </a:pPr>
            <a:r>
              <a:rPr sz="900" b="1">
                <a:solidFill>
                  <a:srgbClr val="A7171D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قاعدة منفصلة</a:t>
            </a:r>
          </a:p>
          <a:p>
            <a:pPr algn="r" rtl="1">
              <a:lnSpc>
                <a:spcPct val="130000"/>
              </a:lnSpc>
              <a:spcAft>
                <a:spcPts val="400"/>
              </a:spcAft>
            </a:pPr>
            <a:r>
              <a:rPr sz="900" b="1">
                <a:solidFill>
                  <a:srgbClr val="A7171D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لوحة Voyager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617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1" i="0">
                <a:solidFill>
                  <a:srgbClr val="6B7280"/>
                </a:solidFill>
                <a:latin typeface="Cairo"/>
              </a:rPr>
              <a:t>المشكلة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93776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00" b="0" i="0">
                <a:solidFill>
                  <a:srgbClr val="1E293B"/>
                </a:solidFill>
                <a:latin typeface="Cairo"/>
              </a:rPr>
              <a:t>منفصلة عن الموقع</a:t>
            </a:r>
          </a:p>
          <a:p>
            <a:pPr algn="r" rtl="1">
              <a:lnSpc>
                <a:spcPct val="140000"/>
              </a:lnSpc>
            </a:pPr>
            <a:r>
              <a:rPr sz="1200" b="0" i="0">
                <a:solidFill>
                  <a:srgbClr val="1E293B"/>
                </a:solidFill>
                <a:latin typeface="Cairo"/>
              </a:rPr>
              <a:t>فجوة شاشات مع التطبيق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1920240"/>
            <a:ext cx="3657600" cy="64008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1965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iro"/>
              </a:rPr>
              <a:t>تطبيق الهاتف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3042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FFFFFF"/>
                </a:solidFill>
                <a:latin typeface="Cairo"/>
              </a:rPr>
              <a:t>AzalFinance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2560320"/>
            <a:ext cx="3657600" cy="3566160"/>
          </a:xfrm>
          <a:prstGeom prst="rect">
            <a:avLst/>
          </a:prstGeom>
          <a:solidFill>
            <a:srgbClr val="FEFAE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26974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1" i="0">
                <a:solidFill>
                  <a:srgbClr val="6B7280"/>
                </a:solidFill>
                <a:latin typeface="Cairo"/>
              </a:rPr>
              <a:t>التقنية الحالية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017520"/>
            <a:ext cx="3291840" cy="14630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400"/>
              </a:spcAft>
            </a:pPr>
            <a:r>
              <a:rPr sz="900" b="1">
                <a:solidFill>
                  <a:srgbClr val="C8A24B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Flutter</a:t>
            </a:r>
          </a:p>
          <a:p>
            <a:pPr algn="r" rtl="1">
              <a:lnSpc>
                <a:spcPct val="130000"/>
              </a:lnSpc>
              <a:spcAft>
                <a:spcPts val="400"/>
              </a:spcAft>
            </a:pPr>
            <a:r>
              <a:rPr sz="900" b="1">
                <a:solidFill>
                  <a:srgbClr val="C8A24B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مربوط بالبوابة</a:t>
            </a:r>
          </a:p>
          <a:p>
            <a:pPr algn="r" rtl="1">
              <a:lnSpc>
                <a:spcPct val="130000"/>
              </a:lnSpc>
              <a:spcAft>
                <a:spcPts val="400"/>
              </a:spcAft>
            </a:pPr>
            <a:r>
              <a:rPr sz="900" b="1">
                <a:solidFill>
                  <a:srgbClr val="C8A24B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عبر APIs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617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1" i="0">
                <a:solidFill>
                  <a:srgbClr val="6B7280"/>
                </a:solidFill>
                <a:latin typeface="Cairo"/>
              </a:rPr>
              <a:t>المشكلة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93776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200" b="0" i="0">
                <a:solidFill>
                  <a:srgbClr val="1E293B"/>
                </a:solidFill>
                <a:latin typeface="Cairo"/>
              </a:rPr>
              <a:t>لا يجوز تعديله</a:t>
            </a:r>
          </a:p>
          <a:p>
            <a:pPr algn="r" rtl="1">
              <a:lnSpc>
                <a:spcPct val="140000"/>
              </a:lnSpc>
            </a:pPr>
            <a:r>
              <a:rPr sz="1200" b="0" i="0">
                <a:solidFill>
                  <a:srgbClr val="1E293B"/>
                </a:solidFill>
                <a:latin typeface="Cairo"/>
              </a:rPr>
              <a:t>يجب بقاءه عاملاً 100%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z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6032"/>
            <a:ext cx="99479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 i="0">
                <a:solidFill>
                  <a:srgbClr val="6B0E13"/>
                </a:solidFill>
                <a:latin typeface="Cairo"/>
              </a:rPr>
              <a:t>أهداف المشروع والقيود الصارمة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1444752"/>
            <a:ext cx="1463040" cy="3657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iro"/>
              </a:rPr>
              <a:t>ما سيتحقق، وما نلتزم باحترامه حرفياً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iro"/>
              </a:rPr>
              <a:t>عرض فني ومالي  ·  مشروع تحديث الموقع الإلكتروني وبوابة العميل  ·  [اسم شركتك]  ·  سرّي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920240"/>
            <a:ext cx="5440680" cy="5029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75104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iro"/>
              </a:rPr>
              <a:t>الأهداف التي سنساهم في تحقيقها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423160"/>
            <a:ext cx="5440680" cy="3520440"/>
          </a:xfrm>
          <a:prstGeom prst="rect">
            <a:avLst/>
          </a:prstGeom>
          <a:solidFill>
            <a:srgbClr val="F0FDF4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606040"/>
            <a:ext cx="5029200" cy="32004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r" rtl="1">
              <a:lnSpc>
                <a:spcPct val="140000"/>
              </a:lnSpc>
              <a:spcAft>
                <a:spcPts val="900"/>
              </a:spcAft>
            </a:pPr>
            <a:r>
              <a:rPr sz="1000" b="1">
                <a:solidFill>
                  <a:srgbClr val="15803D"/>
                </a:solidFill>
                <a:latin typeface="Cairo"/>
              </a:rPr>
              <a:t>●  </a:t>
            </a:r>
            <a:r>
              <a:rPr sz="1300">
                <a:solidFill>
                  <a:srgbClr val="1E293B"/>
                </a:solidFill>
                <a:latin typeface="Cairo"/>
              </a:rPr>
              <a:t>Backend موحّد ومركزي كمصدر بيانات وحيد</a:t>
            </a:r>
          </a:p>
          <a:p>
            <a:pPr algn="r" rtl="1">
              <a:lnSpc>
                <a:spcPct val="140000"/>
              </a:lnSpc>
              <a:spcAft>
                <a:spcPts val="900"/>
              </a:spcAft>
            </a:pPr>
            <a:r>
              <a:rPr sz="1000" b="1">
                <a:solidFill>
                  <a:srgbClr val="15803D"/>
                </a:solidFill>
                <a:latin typeface="Cairo"/>
              </a:rPr>
              <a:t>●  </a:t>
            </a:r>
            <a:r>
              <a:rPr sz="1300">
                <a:solidFill>
                  <a:srgbClr val="1E293B"/>
                </a:solidFill>
                <a:latin typeface="Cairo"/>
              </a:rPr>
              <a:t>دمج قواعد البيانات في قاعدة مركزية موحدة</a:t>
            </a:r>
          </a:p>
          <a:p>
            <a:pPr algn="r" rtl="1">
              <a:lnSpc>
                <a:spcPct val="140000"/>
              </a:lnSpc>
              <a:spcAft>
                <a:spcPts val="900"/>
              </a:spcAft>
            </a:pPr>
            <a:r>
              <a:rPr sz="1000" b="1">
                <a:solidFill>
                  <a:srgbClr val="15803D"/>
                </a:solidFill>
                <a:latin typeface="Cairo"/>
              </a:rPr>
              <a:t>●  </a:t>
            </a:r>
            <a:r>
              <a:rPr sz="1300">
                <a:solidFill>
                  <a:srgbClr val="1E293B"/>
                </a:solidFill>
                <a:latin typeface="Cairo"/>
              </a:rPr>
              <a:t>واجهات حديثة متجاوبة (UI Refinement)</a:t>
            </a:r>
          </a:p>
          <a:p>
            <a:pPr algn="r" rtl="1">
              <a:lnSpc>
                <a:spcPct val="140000"/>
              </a:lnSpc>
              <a:spcAft>
                <a:spcPts val="900"/>
              </a:spcAft>
            </a:pPr>
            <a:r>
              <a:rPr sz="1000" b="1">
                <a:solidFill>
                  <a:srgbClr val="15803D"/>
                </a:solidFill>
                <a:latin typeface="Cairo"/>
              </a:rPr>
              <a:t>●  </a:t>
            </a:r>
            <a:r>
              <a:rPr sz="1300">
                <a:solidFill>
                  <a:srgbClr val="1E293B"/>
                </a:solidFill>
                <a:latin typeface="Cairo"/>
              </a:rPr>
              <a:t>سدّ فجوة شاشات السداد بين التطبيق والويب</a:t>
            </a:r>
          </a:p>
          <a:p>
            <a:pPr algn="r" rtl="1">
              <a:lnSpc>
                <a:spcPct val="140000"/>
              </a:lnSpc>
              <a:spcAft>
                <a:spcPts val="900"/>
              </a:spcAft>
            </a:pPr>
            <a:r>
              <a:rPr sz="1000" b="1">
                <a:solidFill>
                  <a:srgbClr val="15803D"/>
                </a:solidFill>
                <a:latin typeface="Cairo"/>
              </a:rPr>
              <a:t>●  </a:t>
            </a:r>
            <a:r>
              <a:rPr sz="1300">
                <a:solidFill>
                  <a:srgbClr val="1E293B"/>
                </a:solidFill>
                <a:latin typeface="Cairo"/>
              </a:rPr>
              <a:t>Custom CMS مخصص بالكامل من الصفر</a:t>
            </a:r>
          </a:p>
          <a:p>
            <a:pPr algn="r" rtl="1">
              <a:lnSpc>
                <a:spcPct val="140000"/>
              </a:lnSpc>
              <a:spcAft>
                <a:spcPts val="900"/>
              </a:spcAft>
            </a:pPr>
            <a:r>
              <a:rPr sz="1000" b="1">
                <a:solidFill>
                  <a:srgbClr val="15803D"/>
                </a:solidFill>
                <a:latin typeface="Cairo"/>
              </a:rPr>
              <a:t>●  </a:t>
            </a:r>
            <a:r>
              <a:rPr sz="1300">
                <a:solidFill>
                  <a:srgbClr val="1E293B"/>
                </a:solidFill>
                <a:latin typeface="Cairo"/>
              </a:rPr>
              <a:t>رفع مستوى الأمن وفق OWASP Top 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5486400" cy="502920"/>
          </a:xfrm>
          <a:prstGeom prst="rect">
            <a:avLst/>
          </a:prstGeom>
          <a:solidFill>
            <a:srgbClr val="6B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975104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iro"/>
              </a:rPr>
              <a:t>القيود الصارمة — نلتزم بها كاملة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23160"/>
            <a:ext cx="5486400" cy="3520440"/>
          </a:xfrm>
          <a:prstGeom prst="rect">
            <a:avLst/>
          </a:prstGeom>
          <a:solidFill>
            <a:srgbClr val="FDF2F3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606040"/>
            <a:ext cx="2423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A717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71576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6B0E13"/>
                </a:solidFill>
                <a:latin typeface="Cairo"/>
              </a:rPr>
              <a:t>Zero Downtime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08152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تنفيذ دون انقطاع للخدمة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2606040"/>
            <a:ext cx="2423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A717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71576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6B0E13"/>
                </a:solidFill>
                <a:latin typeface="Cairo"/>
              </a:rPr>
              <a:t>توافق رجعي 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08152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للـ APIs مع تطبيق الهاتف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685032"/>
            <a:ext cx="2423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A717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7947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6B0E13"/>
                </a:solidFill>
                <a:latin typeface="Cairo"/>
              </a:rPr>
              <a:t>ترحيل 100% للبيانات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1605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دون فقدان أي معلومة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3685032"/>
            <a:ext cx="2423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A717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37947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6B0E13"/>
                </a:solidFill>
                <a:latin typeface="Cairo"/>
              </a:rPr>
              <a:t>لا للمساس بالتطبيق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41605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عدم تعديل تطبيق الهاتف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764024"/>
            <a:ext cx="2423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A717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873752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6B0E13"/>
                </a:solidFill>
                <a:latin typeface="Cairo"/>
              </a:rPr>
              <a:t>Custom CMS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239512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بديل Runner و Voyager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4764024"/>
            <a:ext cx="2423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A717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0" y="4873752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6B0E13"/>
                </a:solidFill>
                <a:latin typeface="Cairo"/>
              </a:rPr>
              <a:t>ضمان 6 أشهر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5239512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دعم وصيانة مجانية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z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6032"/>
            <a:ext cx="99479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 i="0">
                <a:solidFill>
                  <a:srgbClr val="6B0E13"/>
                </a:solidFill>
                <a:latin typeface="Cairo"/>
              </a:rPr>
              <a:t>الحل التقني المقترح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1444752"/>
            <a:ext cx="1463040" cy="3657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iro"/>
              </a:rPr>
              <a:t>معمارية Backend موحّد ومركزي يخدم كل القنوات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iro"/>
              </a:rPr>
              <a:t>عرض فني ومالي  ·  مشروع تحديث الموقع الإلكتروني وبوابة العميل  ·  [اسم شركتك]  ·  سرّي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011680"/>
            <a:ext cx="2286000" cy="457200"/>
          </a:xfrm>
          <a:prstGeom prst="rect">
            <a:avLst/>
          </a:prstGeom>
          <a:solidFill>
            <a:srgbClr val="6B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8483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iro"/>
              </a:rPr>
              <a:t>Presentation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2011680"/>
            <a:ext cx="8595360" cy="457200"/>
          </a:xfrm>
          <a:prstGeom prst="rect">
            <a:avLst/>
          </a:prstGeom>
          <a:solidFill>
            <a:srgbClr val="FDF2F3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103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1E293B"/>
                </a:solidFill>
                <a:latin typeface="Cairo"/>
              </a:rPr>
              <a:t>موقع React/Vue + بوابة React/Vue — واجهات متجاوبة، ثنائية اللغة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78608"/>
            <a:ext cx="2286000" cy="457200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5176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iro"/>
              </a:rPr>
              <a:t>API Layer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2578608"/>
            <a:ext cx="85953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2670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1E293B"/>
                </a:solidFill>
                <a:latin typeface="Cairo"/>
              </a:rPr>
              <a:t>RESTful APIs على Laravel — نقطة الدخول الوحيدة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145536"/>
            <a:ext cx="2286000" cy="457200"/>
          </a:xfrm>
          <a:prstGeom prst="rect">
            <a:avLst/>
          </a:prstGeom>
          <a:solidFill>
            <a:srgbClr val="6B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18688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iro"/>
              </a:rPr>
              <a:t>Business Logic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3145536"/>
            <a:ext cx="8595360" cy="457200"/>
          </a:xfrm>
          <a:prstGeom prst="rect">
            <a:avLst/>
          </a:prstGeom>
          <a:solidFill>
            <a:srgbClr val="FDF2F3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3236976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1E293B"/>
                </a:solidFill>
                <a:latin typeface="Cairo"/>
              </a:rPr>
              <a:t>منطق عمل موحّد — اتساق السلوك عبر القنوات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712464"/>
            <a:ext cx="2286000" cy="457200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85616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iro"/>
              </a:rPr>
              <a:t>Data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3712464"/>
            <a:ext cx="85953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3803904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1E293B"/>
                </a:solidFill>
                <a:latin typeface="Cairo"/>
              </a:rPr>
              <a:t>MySQL مركزية موحدة + طبقة ترحيل واستعادة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279392"/>
            <a:ext cx="2286000" cy="457200"/>
          </a:xfrm>
          <a:prstGeom prst="rect">
            <a:avLst/>
          </a:prstGeom>
          <a:solidFill>
            <a:srgbClr val="6B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35254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iro"/>
              </a:rPr>
              <a:t>Custom CMS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0" y="4279392"/>
            <a:ext cx="8595360" cy="457200"/>
          </a:xfrm>
          <a:prstGeom prst="rect">
            <a:avLst/>
          </a:prstGeom>
          <a:solidFill>
            <a:srgbClr val="FDF2F3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437083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0" i="0">
                <a:solidFill>
                  <a:srgbClr val="1E293B"/>
                </a:solidFill>
                <a:latin typeface="Cairo"/>
              </a:rPr>
              <a:t>لوحة إدارة مبنية من الصفر (محتوى/مستخدمون/صلاحيات)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91640" y="2468880"/>
            <a:ext cx="182880" cy="10972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691640" y="3035808"/>
            <a:ext cx="182880" cy="10972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691640" y="3602736"/>
            <a:ext cx="182880" cy="10972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691640" y="4169664"/>
            <a:ext cx="182880" cy="10972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257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1" i="0">
                <a:solidFill>
                  <a:srgbClr val="6B7280"/>
                </a:solidFill>
                <a:latin typeface="Cairo"/>
              </a:rPr>
              <a:t>التقنيات المعتمدة (طبقاً لمتطلبات الوثيقة):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623560"/>
            <a:ext cx="1627632" cy="292608"/>
          </a:xfrm>
          <a:prstGeom prst="round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650992"/>
            <a:ext cx="162763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iro"/>
              </a:rPr>
              <a:t>Laravel 11+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50592" y="5623560"/>
            <a:ext cx="1271016" cy="292608"/>
          </a:xfrm>
          <a:prstGeom prst="round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50592" y="5650992"/>
            <a:ext cx="127101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iro"/>
              </a:rPr>
              <a:t>PHP 8.4+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04488" y="5623560"/>
            <a:ext cx="1746504" cy="292608"/>
          </a:xfrm>
          <a:prstGeom prst="round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04488" y="5650992"/>
            <a:ext cx="17465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iro"/>
              </a:rPr>
              <a:t>React/Vue.js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33872" y="5623560"/>
            <a:ext cx="914400" cy="292608"/>
          </a:xfrm>
          <a:prstGeom prst="round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33872" y="5650992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iro"/>
              </a:rPr>
              <a:t>MySQL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31152" y="5623560"/>
            <a:ext cx="1152144" cy="292608"/>
          </a:xfrm>
          <a:prstGeom prst="round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31152" y="5650992"/>
            <a:ext cx="115214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iro"/>
              </a:rPr>
              <a:t>RESTful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66176" y="5623560"/>
            <a:ext cx="1746504" cy="292608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66176" y="5650992"/>
            <a:ext cx="174650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iro"/>
              </a:rPr>
              <a:t>OWASP Top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z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6032"/>
            <a:ext cx="99479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 i="0">
                <a:solidFill>
                  <a:srgbClr val="6B0E13"/>
                </a:solidFill>
                <a:latin typeface="Cairo"/>
              </a:rPr>
              <a:t>منهجية التنفيذ — Agile / Scrum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1444752"/>
            <a:ext cx="1463040" cy="3657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iro"/>
              </a:rPr>
              <a:t>تسليم تدريجي قابل للمراجعة والاعتماد في كل دورة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iro"/>
              </a:rPr>
              <a:t>عرض فني ومالي  ·  مشروع تحديث الموقع الإلكتروني وبوابة العميل  ·  [اسم شركتك]  ·  سرّي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2743200" cy="1463040"/>
          </a:xfrm>
          <a:prstGeom prst="rect">
            <a:avLst/>
          </a:prstGeom>
          <a:solidFill>
            <a:srgbClr val="FDF2F3"/>
          </a:solidFill>
          <a:ln w="15875">
            <a:solidFill>
              <a:srgbClr val="A717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2743200" cy="6400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488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6B0E13"/>
                </a:solidFill>
                <a:latin typeface="Cairo"/>
              </a:rPr>
              <a:t>تطوير تكراري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0604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دورات Sprint مدتها أسبوعان، بنتائج قابلة للمراجعة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1920240"/>
            <a:ext cx="2743200" cy="1463040"/>
          </a:xfrm>
          <a:prstGeom prst="rect">
            <a:avLst/>
          </a:prstGeom>
          <a:solidFill>
            <a:srgbClr val="FDF2F3"/>
          </a:solidFill>
          <a:ln w="15875">
            <a:solidFill>
              <a:srgbClr val="A717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920240"/>
            <a:ext cx="2743200" cy="6400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1488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6B0E13"/>
                </a:solidFill>
                <a:latin typeface="Cairo"/>
              </a:rPr>
              <a:t>توافق رجعي صارم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60604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طبقة Adapter + Feature Flags تطبق تطبيق الهاتف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920240"/>
            <a:ext cx="2743200" cy="1463040"/>
          </a:xfrm>
          <a:prstGeom prst="rect">
            <a:avLst/>
          </a:prstGeom>
          <a:solidFill>
            <a:srgbClr val="FEFAEB"/>
          </a:solidFill>
          <a:ln w="15875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920240"/>
            <a:ext cx="2743200" cy="6400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1488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6B0E13"/>
                </a:solidFill>
                <a:latin typeface="Cairo"/>
              </a:rPr>
              <a:t>تسليم معزول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0604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تطوير كامل على Staging قبل ملامسة الإنتاج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1920240"/>
            <a:ext cx="2743200" cy="1463040"/>
          </a:xfrm>
          <a:prstGeom prst="rect">
            <a:avLst/>
          </a:prstGeom>
          <a:solidFill>
            <a:srgbClr val="FEFAEB"/>
          </a:solidFill>
          <a:ln w="15875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280" y="1920240"/>
            <a:ext cx="2743200" cy="6400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21488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6B0E13"/>
                </a:solidFill>
                <a:latin typeface="Cairo"/>
              </a:rPr>
              <a:t>اعتماد متدرّج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60604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Stage Gates — لا انتقال إلا باعتماد رسمي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657600"/>
            <a:ext cx="5486400" cy="457200"/>
          </a:xfrm>
          <a:prstGeom prst="rect">
            <a:avLst/>
          </a:prstGeom>
          <a:solidFill>
            <a:srgbClr val="6B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712463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iro"/>
              </a:rPr>
              <a:t>طقوس العمل (Ceremonies)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114800"/>
            <a:ext cx="5486400" cy="1828800"/>
          </a:xfrm>
          <a:prstGeom prst="rect">
            <a:avLst/>
          </a:prstGeom>
          <a:solidFill>
            <a:srgbClr val="FDF2F3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251960"/>
            <a:ext cx="5029200" cy="1645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700"/>
              </a:spcAft>
            </a:pPr>
            <a:r>
              <a:rPr sz="900" b="1">
                <a:solidFill>
                  <a:srgbClr val="A7171D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Sprint Planning — تخطيط كل دورة</a:t>
            </a:r>
          </a:p>
          <a:p>
            <a:pPr algn="r" rtl="1">
              <a:lnSpc>
                <a:spcPct val="130000"/>
              </a:lnSpc>
              <a:spcAft>
                <a:spcPts val="700"/>
              </a:spcAft>
            </a:pPr>
            <a:r>
              <a:rPr sz="900" b="1">
                <a:solidFill>
                  <a:srgbClr val="A7171D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Daily Standup — متابعة يومية (15 دقيقة)</a:t>
            </a:r>
          </a:p>
          <a:p>
            <a:pPr algn="r" rtl="1">
              <a:lnSpc>
                <a:spcPct val="130000"/>
              </a:lnSpc>
              <a:spcAft>
                <a:spcPts val="700"/>
              </a:spcAft>
            </a:pPr>
            <a:r>
              <a:rPr sz="900" b="1">
                <a:solidFill>
                  <a:srgbClr val="A7171D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Sprint Review — عرض التسليم لفريق IT</a:t>
            </a:r>
          </a:p>
          <a:p>
            <a:pPr algn="r" rtl="1">
              <a:lnSpc>
                <a:spcPct val="130000"/>
              </a:lnSpc>
              <a:spcAft>
                <a:spcPts val="700"/>
              </a:spcAft>
            </a:pPr>
            <a:r>
              <a:rPr sz="900" b="1">
                <a:solidFill>
                  <a:srgbClr val="A7171D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Stage Gate — اعتماد رسمي بين المراحل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657600"/>
            <a:ext cx="5440680" cy="45720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712463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iro"/>
              </a:rPr>
              <a:t>أدوار المشروع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114800"/>
            <a:ext cx="5440680" cy="1828800"/>
          </a:xfrm>
          <a:prstGeom prst="rect">
            <a:avLst/>
          </a:prstGeom>
          <a:solidFill>
            <a:srgbClr val="FEFAE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251960"/>
            <a:ext cx="5029200" cy="1645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700"/>
              </a:spcAft>
            </a:pPr>
            <a:r>
              <a:rPr sz="900" b="1">
                <a:solidFill>
                  <a:srgbClr val="C8A24B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Product Owner — من برنامج آزال</a:t>
            </a:r>
          </a:p>
          <a:p>
            <a:pPr algn="r" rtl="1">
              <a:lnSpc>
                <a:spcPct val="130000"/>
              </a:lnSpc>
              <a:spcAft>
                <a:spcPts val="700"/>
              </a:spcAft>
            </a:pPr>
            <a:r>
              <a:rPr sz="900" b="1">
                <a:solidFill>
                  <a:srgbClr val="C8A24B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Scrum Master — من المقدِّم</a:t>
            </a:r>
          </a:p>
          <a:p>
            <a:pPr algn="r" rtl="1">
              <a:lnSpc>
                <a:spcPct val="130000"/>
              </a:lnSpc>
              <a:spcAft>
                <a:spcPts val="700"/>
              </a:spcAft>
            </a:pPr>
            <a:r>
              <a:rPr sz="900" b="1">
                <a:solidFill>
                  <a:srgbClr val="C8A24B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فريق التطوير — من المقدِّم</a:t>
            </a:r>
          </a:p>
          <a:p>
            <a:pPr algn="r" rtl="1">
              <a:lnSpc>
                <a:spcPct val="130000"/>
              </a:lnSpc>
              <a:spcAft>
                <a:spcPts val="700"/>
              </a:spcAft>
            </a:pPr>
            <a:r>
              <a:rPr sz="900" b="1">
                <a:solidFill>
                  <a:srgbClr val="C8A24B"/>
                </a:solidFill>
                <a:latin typeface="Cairo"/>
              </a:rPr>
              <a:t>●  </a:t>
            </a:r>
            <a:r>
              <a:rPr sz="1200">
                <a:solidFill>
                  <a:srgbClr val="1E293B"/>
                </a:solidFill>
                <a:latin typeface="Cairo"/>
              </a:rPr>
              <a:t>ممثل IT — اعتماد المخرجات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z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6032"/>
            <a:ext cx="99479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 i="0">
                <a:solidFill>
                  <a:srgbClr val="6B0E13"/>
                </a:solidFill>
                <a:latin typeface="Cairo"/>
              </a:rPr>
              <a:t>المراحل السبع والجدول الزمني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1444752"/>
            <a:ext cx="1463040" cy="3657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iro"/>
              </a:rPr>
              <a:t>تنفيذ متسلسل مع نقاط اعتماد واضحة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iro"/>
              </a:rPr>
              <a:t>عرض فني ومالي  ·  مشروع تحديث الموقع الإلكتروني وبوابة العميل  ·  [اسم شركتك]  ·  سرّي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1417320" cy="822960"/>
          </a:xfrm>
          <a:prstGeom prst="roundRect">
            <a:avLst/>
          </a:prstGeom>
          <a:solidFill>
            <a:srgbClr val="A7171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66544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iro"/>
              </a:rPr>
              <a:t>مرحلة 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2316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900" b="0" i="0">
                <a:solidFill>
                  <a:srgbClr val="FFFFFF"/>
                </a:solidFill>
                <a:latin typeface="Cairo"/>
              </a:rPr>
              <a:t>التحليل وتصميم 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2331720"/>
            <a:ext cx="320040" cy="18288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3-4 أسابيع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3200400"/>
            <a:ext cx="594360" cy="274320"/>
          </a:xfrm>
          <a:prstGeom prst="rect">
            <a:avLst/>
          </a:prstGeom>
          <a:solidFill>
            <a:srgbClr val="8A6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22783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iro"/>
              </a:rPr>
              <a:t>M1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76272" y="2011680"/>
            <a:ext cx="1417320" cy="822960"/>
          </a:xfrm>
          <a:prstGeom prst="roundRect">
            <a:avLst/>
          </a:prstGeom>
          <a:solidFill>
            <a:srgbClr val="A7171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76272" y="2066544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iro"/>
              </a:rPr>
              <a:t>مرحلة 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76272" y="242316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900" b="0" i="0">
                <a:solidFill>
                  <a:srgbClr val="FFFFFF"/>
                </a:solidFill>
                <a:latin typeface="Cairo"/>
              </a:rPr>
              <a:t>التطوير البرمجي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47872" y="2331720"/>
            <a:ext cx="320040" cy="18288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84832" y="288036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10-12 أسبوعاً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87752" y="3200400"/>
            <a:ext cx="594360" cy="274320"/>
          </a:xfrm>
          <a:prstGeom prst="rect">
            <a:avLst/>
          </a:prstGeom>
          <a:solidFill>
            <a:srgbClr val="8A6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87752" y="322783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iro"/>
              </a:rPr>
              <a:t>M2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03904" y="2011680"/>
            <a:ext cx="1417320" cy="822960"/>
          </a:xfrm>
          <a:prstGeom prst="roundRect">
            <a:avLst/>
          </a:prstGeom>
          <a:solidFill>
            <a:srgbClr val="A7171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03904" y="2066544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iro"/>
              </a:rPr>
              <a:t>مرحلة 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03904" y="242316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900" b="0" i="0">
                <a:solidFill>
                  <a:srgbClr val="FFFFFF"/>
                </a:solidFill>
                <a:latin typeface="Cairo"/>
              </a:rPr>
              <a:t>ترحيل البيانات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75504" y="2331720"/>
            <a:ext cx="320040" cy="18288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12464" y="288036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3-4 أسابيع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15384" y="3200400"/>
            <a:ext cx="594360" cy="274320"/>
          </a:xfrm>
          <a:prstGeom prst="rect">
            <a:avLst/>
          </a:prstGeom>
          <a:solidFill>
            <a:srgbClr val="8A6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15384" y="322783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iro"/>
              </a:rPr>
              <a:t>M3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31536" y="2011680"/>
            <a:ext cx="1417320" cy="822960"/>
          </a:xfrm>
          <a:prstGeom prst="roundRect">
            <a:avLst/>
          </a:prstGeom>
          <a:solidFill>
            <a:srgbClr val="A7171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31536" y="2066544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iro"/>
              </a:rPr>
              <a:t>مرحلة 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31536" y="242316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900" b="0" i="0">
                <a:solidFill>
                  <a:srgbClr val="FFFFFF"/>
                </a:solidFill>
                <a:latin typeface="Cairo"/>
              </a:rPr>
              <a:t>الاختبارات الشاملة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03136" y="2331720"/>
            <a:ext cx="320040" cy="18288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40096" y="288036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3-4 أسابيع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43016" y="3200400"/>
            <a:ext cx="594360" cy="274320"/>
          </a:xfrm>
          <a:prstGeom prst="rect">
            <a:avLst/>
          </a:prstGeom>
          <a:solidFill>
            <a:srgbClr val="8A6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43016" y="322783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iro"/>
              </a:rPr>
              <a:t>M4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59168" y="2011680"/>
            <a:ext cx="1417320" cy="822960"/>
          </a:xfrm>
          <a:prstGeom prst="roundRect">
            <a:avLst/>
          </a:prstGeom>
          <a:solidFill>
            <a:srgbClr val="A7171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59168" y="2066544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iro"/>
              </a:rPr>
              <a:t>مرحلة 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59168" y="242316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900" b="0" i="0">
                <a:solidFill>
                  <a:srgbClr val="FFFFFF"/>
                </a:solidFill>
                <a:latin typeface="Cairo"/>
              </a:rPr>
              <a:t>التشغيل التجريبي UAT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30768" y="2331720"/>
            <a:ext cx="320040" cy="18288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67728" y="288036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2-3 أسابيع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70648" y="3200400"/>
            <a:ext cx="594360" cy="274320"/>
          </a:xfrm>
          <a:prstGeom prst="rect">
            <a:avLst/>
          </a:prstGeom>
          <a:solidFill>
            <a:srgbClr val="8A6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70648" y="322783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iro"/>
              </a:rPr>
              <a:t>M5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0" y="2011680"/>
            <a:ext cx="1417320" cy="822960"/>
          </a:xfrm>
          <a:prstGeom prst="roundRect">
            <a:avLst/>
          </a:prstGeom>
          <a:solidFill>
            <a:srgbClr val="A7171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0" y="2066544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iro"/>
              </a:rPr>
              <a:t>مرحلة 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242316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900" b="0" i="0">
                <a:solidFill>
                  <a:srgbClr val="FFFFFF"/>
                </a:solidFill>
                <a:latin typeface="Cairo"/>
              </a:rPr>
              <a:t>الإطلاق النهائي Go-Live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58400" y="2331720"/>
            <a:ext cx="320040" cy="18288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95360" y="288036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أسبوع + مراقبة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98280" y="3200400"/>
            <a:ext cx="594360" cy="274320"/>
          </a:xfrm>
          <a:prstGeom prst="rect">
            <a:avLst/>
          </a:prstGeom>
          <a:solidFill>
            <a:srgbClr val="8A6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98280" y="322783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iro"/>
              </a:rPr>
              <a:t>M6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314432" y="2011680"/>
            <a:ext cx="1417320" cy="822960"/>
          </a:xfrm>
          <a:prstGeom prst="roundRect">
            <a:avLst/>
          </a:prstGeom>
          <a:solidFill>
            <a:srgbClr val="C8A24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14432" y="2066544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iro"/>
              </a:rPr>
              <a:t>مرحلة ٧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14432" y="242316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900" b="0" i="0">
                <a:solidFill>
                  <a:srgbClr val="FFFFFF"/>
                </a:solidFill>
                <a:latin typeface="Cairo"/>
              </a:rPr>
              <a:t>الضمان ونقل المعرفة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22992" y="288036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6 أشهر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725912" y="3200400"/>
            <a:ext cx="594360" cy="274320"/>
          </a:xfrm>
          <a:prstGeom prst="rect">
            <a:avLst/>
          </a:prstGeom>
          <a:solidFill>
            <a:srgbClr val="8A6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725912" y="322783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iro"/>
              </a:rPr>
              <a:t>M7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434840"/>
            <a:ext cx="11247120" cy="1463040"/>
          </a:xfrm>
          <a:prstGeom prst="rect">
            <a:avLst/>
          </a:prstGeom>
          <a:solidFill>
            <a:srgbClr val="FDF2F3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" y="4434840"/>
            <a:ext cx="73152" cy="1463040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461772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6B0E13"/>
                </a:solidFill>
                <a:latin typeface="Cairo"/>
              </a:rPr>
              <a:t>~6 أشهر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52120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6B7280"/>
                </a:solidFill>
                <a:latin typeface="Cairo"/>
              </a:rPr>
              <a:t>المدة الإجمالية للتنفيذ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89120" y="461772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6B0E13"/>
                </a:solidFill>
                <a:latin typeface="Cairo"/>
              </a:rPr>
              <a:t>6 نقاط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89120" y="52120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6B7280"/>
                </a:solidFill>
                <a:latin typeface="Cairo"/>
              </a:rPr>
              <a:t>اعتماد تدريجي Stage Gates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6720" y="461772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6B0E13"/>
                </a:solidFill>
                <a:latin typeface="Cairo"/>
              </a:rPr>
              <a:t>+6 أشهر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46720" y="52120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6B7280"/>
                </a:solidFill>
                <a:latin typeface="Cairo"/>
              </a:rPr>
              <a:t>ضمان ودعم ونقل معرفة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97680" y="4617720"/>
            <a:ext cx="8000" cy="109728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955279" y="4617720"/>
            <a:ext cx="8000" cy="109728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15803D"/>
                </a:solidFill>
                <a:latin typeface="Cairo"/>
              </a:rPr>
              <a:t>✓ تقارير تقدم أسبوعية  ·  ✓ تنبيه مبكر لأي مخاطر  ·  ✓ مرونة في إعادة ترتيب الأولويات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z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6032"/>
            <a:ext cx="99479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 i="0">
                <a:solidFill>
                  <a:srgbClr val="6B0E13"/>
                </a:solidFill>
                <a:latin typeface="Cairo"/>
              </a:rPr>
              <a:t>الأمن السيبراني — التزام OWASP Top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1444752"/>
            <a:ext cx="1463040" cy="3657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iro"/>
              </a:rPr>
              <a:t>الأمن جوهر التصميم، لا إضافة لاحقة — خصوصاً مع البيانات المالية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iro"/>
              </a:rPr>
              <a:t>عرض فني ومالي  ·  مشروع تحديث الموقع الإلكتروني وبوابة العميل  ·  [اسم شركتك]  ·  سرّي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11247120" cy="777240"/>
          </a:xfrm>
          <a:prstGeom prst="rect">
            <a:avLst/>
          </a:prstGeom>
          <a:solidFill>
            <a:srgbClr val="FDF2F3"/>
          </a:solidFill>
          <a:ln w="12700">
            <a:solidFill>
              <a:srgbClr val="D9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73152" cy="777240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300" b="0" i="0">
                <a:solidFill>
                  <a:srgbClr val="1E293B"/>
                </a:solidFill>
                <a:latin typeface="Cairo"/>
              </a:rPr>
              <a:t>النظام يتعامل مع بيانات مالية حساسة وعمليات دفع — لذلك نطبّق OWASP Top 10 منذ مرحلة التصميم، ونُجري اختبار اختراق رسمي قبل التسليم.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71800"/>
            <a:ext cx="54864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971800"/>
            <a:ext cx="1005840" cy="1417320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iro"/>
              </a:rPr>
              <a:t>A01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Cairo"/>
              </a:rPr>
              <a:t>OWASP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1089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6B0E13"/>
                </a:solidFill>
                <a:latin typeface="Cairo"/>
              </a:rPr>
              <a:t>صلاحيات الوصول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52044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RBAC صارم + تحقق على كل طلب + منع تجاوز الصلاحيات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2971800"/>
            <a:ext cx="54864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2971800"/>
            <a:ext cx="1005840" cy="1417320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32004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iro"/>
              </a:rPr>
              <a:t>A02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6576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Cairo"/>
              </a:rPr>
              <a:t>OWASP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31089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6B0E13"/>
                </a:solidFill>
                <a:latin typeface="Cairo"/>
              </a:rPr>
              <a:t>تشفير البيانات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52044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تشفير الحساسة في الراحة (At Rest) وفي النقل (TLS)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553712"/>
            <a:ext cx="54864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553712"/>
            <a:ext cx="1005840" cy="1417320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782312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iro"/>
              </a:rPr>
              <a:t>A03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23951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Cairo"/>
              </a:rPr>
              <a:t>OWASP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469087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6B0E13"/>
                </a:solidFill>
                <a:latin typeface="Cairo"/>
              </a:rPr>
              <a:t>الحقن SQL/XSS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10235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Prepared Statements + ORM آمن + تطهير المدخلات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4553712"/>
            <a:ext cx="54864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4553712"/>
            <a:ext cx="1005840" cy="141732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4782312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iro"/>
              </a:rPr>
              <a:t>A07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523951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Cairo"/>
              </a:rPr>
              <a:t>OWASP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469087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6B0E13"/>
                </a:solidFill>
                <a:latin typeface="Cairo"/>
              </a:rPr>
              <a:t>المصادقة والجلسات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510235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حماية الجلسات + سياسات كلمات المرور + OTP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1">
                <a:solidFill>
                  <a:srgbClr val="6B7280"/>
                </a:solidFill>
                <a:latin typeface="Cairo"/>
              </a:rPr>
              <a:t>أدواتنا: OWASP ZAP · Burp Suite · SQLmap · SonarQube/Snyk · k6/JMeter · اختبار اختراق يدوي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z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6032"/>
            <a:ext cx="99479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 i="0">
                <a:solidFill>
                  <a:srgbClr val="6B0E13"/>
                </a:solidFill>
                <a:latin typeface="Cairo"/>
              </a:rPr>
              <a:t>ترحيل البيانات و Zero Downtime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1444752"/>
            <a:ext cx="1463040" cy="3657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iro"/>
              </a:rPr>
              <a:t>أعلى مخاطر المشروع — نعالجه بخطة هندسية صارمة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iro"/>
              </a:rPr>
              <a:t>عرض فني ومالي  ·  مشروع تحديث الموقع الإلكتروني وبوابة العميل  ·  [اسم شركتك]  ·  سرّي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920240"/>
            <a:ext cx="5440680" cy="502920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75104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iro"/>
              </a:rPr>
              <a:t>منهجية الترحيل (ETL)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423160"/>
            <a:ext cx="5440680" cy="3520440"/>
          </a:xfrm>
          <a:prstGeom prst="rect">
            <a:avLst/>
          </a:prstGeom>
          <a:solidFill>
            <a:srgbClr val="FDF2F3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2606040"/>
            <a:ext cx="502920" cy="502920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69748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iro"/>
              </a:rPr>
              <a:t>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6060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6B0E13"/>
                </a:solidFill>
                <a:latin typeface="Cairo"/>
              </a:rPr>
              <a:t>الاستخراج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97180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استخراج كامل من القواعد المنفصلة دون تعديل الإنتاج</a:t>
            </a:r>
          </a:p>
        </p:txBody>
      </p:sp>
      <p:sp>
        <p:nvSpPr>
          <p:cNvPr id="17" name="Oval 16"/>
          <p:cNvSpPr/>
          <p:nvPr/>
        </p:nvSpPr>
        <p:spPr>
          <a:xfrm>
            <a:off x="6446520" y="3703320"/>
            <a:ext cx="502920" cy="502920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7947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iro"/>
              </a:rPr>
              <a:t>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7033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6B0E13"/>
                </a:solidFill>
                <a:latin typeface="Cairo"/>
              </a:rPr>
              <a:t>التحويل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406908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توحيد المخططات + حل التعارضات + الحفاظ على العلاقات</a:t>
            </a:r>
          </a:p>
        </p:txBody>
      </p:sp>
      <p:sp>
        <p:nvSpPr>
          <p:cNvPr id="21" name="Oval 20"/>
          <p:cNvSpPr/>
          <p:nvPr/>
        </p:nvSpPr>
        <p:spPr>
          <a:xfrm>
            <a:off x="6446520" y="4800600"/>
            <a:ext cx="502920" cy="502920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89204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iro"/>
              </a:rPr>
              <a:t>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8006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6B0E13"/>
                </a:solidFill>
                <a:latin typeface="Cairo"/>
              </a:rPr>
              <a:t>التحميل والتحقق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516636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تحقق تلقائي 1:1 من الصفوف والمجاميع والسجلات الحرجة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1920240"/>
            <a:ext cx="5486400" cy="502920"/>
          </a:xfrm>
          <a:prstGeom prst="rect">
            <a:avLst/>
          </a:prstGeom>
          <a:solidFill>
            <a:srgbClr val="6B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1975104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iro"/>
              </a:rPr>
              <a:t>ضمانات Zero Downtime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423160"/>
            <a:ext cx="5486400" cy="3520440"/>
          </a:xfrm>
          <a:prstGeom prst="rect">
            <a:avLst/>
          </a:prstGeom>
          <a:solidFill>
            <a:srgbClr val="FEFAE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2606040"/>
            <a:ext cx="5029200" cy="32004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r" rtl="1">
              <a:lnSpc>
                <a:spcPct val="150000"/>
              </a:lnSpc>
              <a:spcAft>
                <a:spcPts val="1200"/>
              </a:spcAft>
            </a:pPr>
            <a:r>
              <a:rPr sz="1000" b="1">
                <a:solidFill>
                  <a:srgbClr val="6B0E13"/>
                </a:solidFill>
                <a:latin typeface="Cairo"/>
              </a:rPr>
              <a:t>●  </a:t>
            </a:r>
            <a:r>
              <a:rPr sz="1300">
                <a:solidFill>
                  <a:srgbClr val="1E293B"/>
                </a:solidFill>
                <a:latin typeface="Cairo"/>
              </a:rPr>
              <a:t>تطوير كامل على بيئة Staging منفصلة</a:t>
            </a:r>
          </a:p>
          <a:p>
            <a:pPr algn="r" rtl="1">
              <a:lnSpc>
                <a:spcPct val="150000"/>
              </a:lnSpc>
              <a:spcAft>
                <a:spcPts val="1200"/>
              </a:spcAft>
            </a:pPr>
            <a:r>
              <a:rPr sz="1000" b="1">
                <a:solidFill>
                  <a:srgbClr val="6B0E13"/>
                </a:solidFill>
                <a:latin typeface="Cairo"/>
              </a:rPr>
              <a:t>●  </a:t>
            </a:r>
            <a:r>
              <a:rPr sz="1300">
                <a:solidFill>
                  <a:srgbClr val="1E293B"/>
                </a:solidFill>
                <a:latin typeface="Cairo"/>
              </a:rPr>
              <a:t>إطلاق تدريجي Blue/Green Deployment</a:t>
            </a:r>
          </a:p>
          <a:p>
            <a:pPr algn="r" rtl="1">
              <a:lnSpc>
                <a:spcPct val="150000"/>
              </a:lnSpc>
              <a:spcAft>
                <a:spcPts val="1200"/>
              </a:spcAft>
            </a:pPr>
            <a:r>
              <a:rPr sz="1000" b="1">
                <a:solidFill>
                  <a:srgbClr val="6B0E13"/>
                </a:solidFill>
                <a:latin typeface="Cairo"/>
              </a:rPr>
              <a:t>●  </a:t>
            </a:r>
            <a:r>
              <a:rPr sz="1300">
                <a:solidFill>
                  <a:srgbClr val="1E293B"/>
                </a:solidFill>
                <a:latin typeface="Cairo"/>
              </a:rPr>
              <a:t>طبقة Compatibility Layer تطبق التطبيق</a:t>
            </a:r>
          </a:p>
          <a:p>
            <a:pPr algn="r" rtl="1">
              <a:lnSpc>
                <a:spcPct val="150000"/>
              </a:lnSpc>
              <a:spcAft>
                <a:spcPts val="1200"/>
              </a:spcAft>
            </a:pPr>
            <a:r>
              <a:rPr sz="1000" b="1">
                <a:solidFill>
                  <a:srgbClr val="6B0E13"/>
                </a:solidFill>
                <a:latin typeface="Cairo"/>
              </a:rPr>
              <a:t>●  </a:t>
            </a:r>
            <a:r>
              <a:rPr sz="1300">
                <a:solidFill>
                  <a:srgbClr val="1E293B"/>
                </a:solidFill>
                <a:latin typeface="Cairo"/>
              </a:rPr>
              <a:t>مراقبة حيّة فورية بعد الإطلاق</a:t>
            </a:r>
          </a:p>
          <a:p>
            <a:pPr algn="r" rtl="1">
              <a:lnSpc>
                <a:spcPct val="150000"/>
              </a:lnSpc>
              <a:spcAft>
                <a:spcPts val="1200"/>
              </a:spcAft>
            </a:pPr>
            <a:r>
              <a:rPr sz="1000" b="1">
                <a:solidFill>
                  <a:srgbClr val="6B0E13"/>
                </a:solidFill>
                <a:latin typeface="Cairo"/>
              </a:rPr>
              <a:t>●  </a:t>
            </a:r>
            <a:r>
              <a:rPr sz="1300">
                <a:solidFill>
                  <a:srgbClr val="1E293B"/>
                </a:solidFill>
                <a:latin typeface="Cairo"/>
              </a:rPr>
              <a:t>نافذة Cutover منخفضة الحركة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349240"/>
            <a:ext cx="512064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1" i="0">
                <a:solidFill>
                  <a:srgbClr val="8A6D20"/>
                </a:solidFill>
                <a:latin typeface="Cairo"/>
              </a:rPr>
              <a:t>✓ ترحيل 100% بلا فقدان + خطة Rollback جاهزة دائماً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z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6032"/>
            <a:ext cx="99479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 i="0">
                <a:solidFill>
                  <a:srgbClr val="6B0E13"/>
                </a:solidFill>
                <a:latin typeface="Cairo"/>
              </a:rPr>
              <a:t>التوافق الرجعي مع تطبيق الهاتف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1444752"/>
            <a:ext cx="1463040" cy="3657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iro"/>
              </a:rPr>
              <a:t>القيد الأهم — التطبيق لا يُمسّ ويجب بقاءه عاملاً 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iro"/>
              </a:rPr>
              <a:t>عرض فني ومالي  ·  مشروع تحديث الموقع الإلكتروني وبوابة العميل  ·  [اسم شركتك]  ·  سرّي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11247120" cy="777240"/>
          </a:xfrm>
          <a:prstGeom prst="rect">
            <a:avLst/>
          </a:prstGeom>
          <a:solidFill>
            <a:srgbClr val="FDF2F3"/>
          </a:solidFill>
          <a:ln w="12700">
            <a:solidFill>
              <a:srgbClr val="D9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73152" cy="777240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300" b="0" i="0">
                <a:solidFill>
                  <a:srgbClr val="1E293B"/>
                </a:solidFill>
                <a:latin typeface="Cairo"/>
              </a:rPr>
              <a:t>الحل: نبني طبقة Adapter فوق الـ Backend الجديد تعيد إنتاج نفس نقاط النهاية (Endpoints) التي يستهلكها التطبيق — بنفس المسارات والمعاملات وصيغ الاستجابة حرفاً بحرف.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71800"/>
            <a:ext cx="54864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971800"/>
            <a:ext cx="73152" cy="1463040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54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6B0E13"/>
                </a:solidFill>
                <a:latin typeface="Cairo"/>
              </a:rPr>
              <a:t>Legacy Endpoints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00" b="0" i="0">
                <a:solidFill>
                  <a:srgbClr val="1E293B"/>
                </a:solidFill>
                <a:latin typeface="Cairo"/>
              </a:rPr>
              <a:t>إعادة إنتاج نفس المسارات القديمة (تمويلات/أقساط/إحصائيات/إشعارات)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971800"/>
            <a:ext cx="54864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971800"/>
            <a:ext cx="73152" cy="146304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154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6B0E13"/>
                </a:solidFill>
                <a:latin typeface="Cairo"/>
              </a:rPr>
              <a:t>Payload Mapping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11880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00" b="0" i="0">
                <a:solidFill>
                  <a:srgbClr val="1E293B"/>
                </a:solidFill>
                <a:latin typeface="Cairo"/>
              </a:rPr>
              <a:t>تحويل البيانات للصيغة القديمة التي يتوقعها التطبيق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99432"/>
            <a:ext cx="54864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599432"/>
            <a:ext cx="73152" cy="1463040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78231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6B0E13"/>
                </a:solidFill>
                <a:latin typeface="Cairo"/>
              </a:rPr>
              <a:t>Feature Flags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39512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00" b="0" i="0">
                <a:solidFill>
                  <a:srgbClr val="1E293B"/>
                </a:solidFill>
                <a:latin typeface="Cairo"/>
              </a:rPr>
              <a:t>تبديل تدريجي آمن بين المصدر القديم والجديد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4599432"/>
            <a:ext cx="54864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4599432"/>
            <a:ext cx="73152" cy="146304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78231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6B0E13"/>
                </a:solidFill>
                <a:latin typeface="Cairo"/>
              </a:rPr>
              <a:t>Compatibility 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239512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200" b="0" i="0">
                <a:solidFill>
                  <a:srgbClr val="1E293B"/>
                </a:solidFill>
                <a:latin typeface="Cairo"/>
              </a:rPr>
              <a:t>اختبارات Snapshot Matching للتأكد من التطابق 100%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15803D"/>
                </a:solidFill>
                <a:latin typeface="Cairo"/>
              </a:rPr>
              <a:t>✓ النتيجة: التطبيق يرى أنه يخاطب النظام القديم بينما يخدمه فعلياً النظام الجديد — صفر تعديل على التطبيق.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z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6032"/>
            <a:ext cx="99479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 i="0">
                <a:solidFill>
                  <a:srgbClr val="6B0E13"/>
                </a:solidFill>
                <a:latin typeface="Cairo"/>
              </a:rPr>
              <a:t>الفريق التنفيذي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1444752"/>
            <a:ext cx="1463040" cy="3657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iro"/>
              </a:rPr>
              <a:t>فريق مخصّص ثابت طوال المشروع — مع بديل جاهز لكل دور حرج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iro"/>
              </a:rPr>
              <a:t>عرض فني ومالي  ·  مشروع تحديث الموقع الإلكتروني وبوابة العميل  ·  [اسم شركتك]  ·  سرّي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2743200" cy="1691640"/>
          </a:xfrm>
          <a:prstGeom prst="rect">
            <a:avLst/>
          </a:prstGeom>
          <a:solidFill>
            <a:srgbClr val="FDF2F3"/>
          </a:solidFill>
          <a:ln w="9525">
            <a:solidFill>
              <a:srgbClr val="A717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65960"/>
            <a:ext cx="2743200" cy="6400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23160" y="2148840"/>
            <a:ext cx="548640" cy="548640"/>
          </a:xfrm>
          <a:prstGeom prst="ellipse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225856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ir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9456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1" i="0">
                <a:solidFill>
                  <a:srgbClr val="6B0E13"/>
                </a:solidFill>
                <a:latin typeface="Cairo"/>
              </a:rPr>
              <a:t>مدير المشروع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8036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إدارة المشروع والـ Sprints والتنسيق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1965960"/>
            <a:ext cx="2743200" cy="1691640"/>
          </a:xfrm>
          <a:prstGeom prst="rect">
            <a:avLst/>
          </a:prstGeom>
          <a:solidFill>
            <a:srgbClr val="FDF2F3"/>
          </a:solidFill>
          <a:ln w="9525">
            <a:solidFill>
              <a:srgbClr val="A717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1965960"/>
            <a:ext cx="2743200" cy="6400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30952" y="2148840"/>
            <a:ext cx="548640" cy="548640"/>
          </a:xfrm>
          <a:prstGeom prst="ellipse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0952" y="225856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iro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19456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1" i="0">
                <a:solidFill>
                  <a:srgbClr val="6B0E13"/>
                </a:solidFill>
                <a:latin typeface="Cairo"/>
              </a:rPr>
              <a:t>مهندس معماري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288036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تصميم الـ Backend الموحّد والقرارات الفنية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72784" y="1965960"/>
            <a:ext cx="2743200" cy="1691640"/>
          </a:xfrm>
          <a:prstGeom prst="rect">
            <a:avLst/>
          </a:prstGeom>
          <a:solidFill>
            <a:srgbClr val="FDF2F3"/>
          </a:solidFill>
          <a:ln w="9525">
            <a:solidFill>
              <a:srgbClr val="A717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72784" y="1965960"/>
            <a:ext cx="2743200" cy="6400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38744" y="2148840"/>
            <a:ext cx="548640" cy="548640"/>
          </a:xfrm>
          <a:prstGeom prst="ellipse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38744" y="225856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iro"/>
              </a:rPr>
              <a:t>2-3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219456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1" i="0">
                <a:solidFill>
                  <a:srgbClr val="6B0E13"/>
                </a:solidFill>
                <a:latin typeface="Cairo"/>
              </a:rPr>
              <a:t>مطوّرو Laravel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288036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تطوير الـ Backend والـ RESTful APIs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0576" y="1965960"/>
            <a:ext cx="2743200" cy="1691640"/>
          </a:xfrm>
          <a:prstGeom prst="rect">
            <a:avLst/>
          </a:prstGeom>
          <a:solidFill>
            <a:srgbClr val="FDF2F3"/>
          </a:solidFill>
          <a:ln w="9525">
            <a:solidFill>
              <a:srgbClr val="A717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80576" y="1965960"/>
            <a:ext cx="2743200" cy="6400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146536" y="2148840"/>
            <a:ext cx="548640" cy="548640"/>
          </a:xfrm>
          <a:prstGeom prst="ellipse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46536" y="225856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iro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63456" y="219456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1" i="0">
                <a:solidFill>
                  <a:srgbClr val="6B0E13"/>
                </a:solidFill>
                <a:latin typeface="Cairo"/>
              </a:rPr>
              <a:t>مطوّرو Frontend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63456" y="288036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واجهات React/Vue وتلميع بصري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840480"/>
            <a:ext cx="2743200" cy="1691640"/>
          </a:xfrm>
          <a:prstGeom prst="rect">
            <a:avLst/>
          </a:prstGeom>
          <a:solidFill>
            <a:srgbClr val="FEFAEB"/>
          </a:solidFill>
          <a:ln w="9525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3840480"/>
            <a:ext cx="2743200" cy="6400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423160" y="4023360"/>
            <a:ext cx="548640" cy="548640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23160" y="413308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iro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06908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1" i="0">
                <a:solidFill>
                  <a:srgbClr val="6B0E13"/>
                </a:solidFill>
                <a:latin typeface="Cairo"/>
              </a:rPr>
              <a:t>مهندس قواعد بيانات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7548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تصميم القاعدة المركزية وترحيلها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64992" y="3840480"/>
            <a:ext cx="2743200" cy="1691640"/>
          </a:xfrm>
          <a:prstGeom prst="rect">
            <a:avLst/>
          </a:prstGeom>
          <a:solidFill>
            <a:srgbClr val="FEFAEB"/>
          </a:solidFill>
          <a:ln w="9525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64992" y="3840480"/>
            <a:ext cx="2743200" cy="6400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330952" y="4023360"/>
            <a:ext cx="548640" cy="548640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30952" y="413308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iro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47872" y="406908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1" i="0">
                <a:solidFill>
                  <a:srgbClr val="6B0E13"/>
                </a:solidFill>
                <a:latin typeface="Cairo"/>
              </a:rPr>
              <a:t>مهندس UI/UX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47872" y="47548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تصميم الواجهات على Figma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72784" y="3840480"/>
            <a:ext cx="2743200" cy="1691640"/>
          </a:xfrm>
          <a:prstGeom prst="rect">
            <a:avLst/>
          </a:prstGeom>
          <a:solidFill>
            <a:srgbClr val="FEFAEB"/>
          </a:solidFill>
          <a:ln w="9525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72784" y="3840480"/>
            <a:ext cx="2743200" cy="6400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238744" y="4023360"/>
            <a:ext cx="548640" cy="548640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38744" y="413308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iro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55664" y="406908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1" i="0">
                <a:solidFill>
                  <a:srgbClr val="6B0E13"/>
                </a:solidFill>
                <a:latin typeface="Cairo"/>
              </a:rPr>
              <a:t>مهندس أمن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55664" y="47548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OWASP واختبار الاختراق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80576" y="3840480"/>
            <a:ext cx="2743200" cy="1691640"/>
          </a:xfrm>
          <a:prstGeom prst="rect">
            <a:avLst/>
          </a:prstGeom>
          <a:solidFill>
            <a:srgbClr val="FEFAEB"/>
          </a:solidFill>
          <a:ln w="9525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180576" y="3840480"/>
            <a:ext cx="2743200" cy="6400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46536" y="4023360"/>
            <a:ext cx="548640" cy="548640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146536" y="413308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iro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63456" y="406908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1" i="0">
                <a:solidFill>
                  <a:srgbClr val="6B0E13"/>
                </a:solidFill>
                <a:latin typeface="Cairo"/>
              </a:rPr>
              <a:t>مهندس QA + DevOps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63456" y="47548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الاختبارات و CI/CD و Rollback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6B0E13"/>
                </a:solidFill>
                <a:latin typeface="Cairo"/>
              </a:rPr>
              <a:t>إجمالي الفريق: 11-12 مهندس متخصّص  ·  فريق ثابت لا يتغيّر طوال المشروع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z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6032"/>
            <a:ext cx="99479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 i="0">
                <a:solidFill>
                  <a:srgbClr val="6B0E13"/>
                </a:solidFill>
                <a:latin typeface="Cairo"/>
              </a:rPr>
              <a:t>سابقة الأعمال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1444752"/>
            <a:ext cx="1463040" cy="3657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iro"/>
              </a:rPr>
              <a:t>مشاريع مشابهة بتقنيات مطابقة — خبرة مثبتة لا ادّعاء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iro"/>
              </a:rPr>
              <a:t>عرض فني ومالي  ·  مشروع تحديث الموقع الإلكتروني وبوابة العميل  ·  [اسم شركتك]  ·  سرّي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54864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65960"/>
            <a:ext cx="73152" cy="1920240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2148840"/>
            <a:ext cx="1097280" cy="320040"/>
          </a:xfrm>
          <a:prstGeom prst="rect">
            <a:avLst/>
          </a:prstGeom>
          <a:solidFill>
            <a:srgbClr val="8A6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1854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iro"/>
              </a:rPr>
              <a:t>2023-2024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14884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6B0E13"/>
                </a:solidFill>
                <a:latin typeface="Cairo"/>
              </a:rPr>
              <a:t>منصة تمويل رقمي موحّدة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5176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إعادة هندزة وتوحيد نظامين منفصلين في منصة Laravel واحدة + ترحيل آمن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74720"/>
            <a:ext cx="1508760" cy="292608"/>
          </a:xfrm>
          <a:prstGeom prst="roundRect">
            <a:avLst/>
          </a:prstGeom>
          <a:solidFill>
            <a:srgbClr val="D9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502152"/>
            <a:ext cx="1508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6B0E13"/>
                </a:solidFill>
                <a:latin typeface="Cairo"/>
              </a:rPr>
              <a:t>Laravel 11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04288" y="3474720"/>
            <a:ext cx="1152144" cy="292608"/>
          </a:xfrm>
          <a:prstGeom prst="roundRect">
            <a:avLst/>
          </a:prstGeom>
          <a:solidFill>
            <a:srgbClr val="D9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04288" y="3502152"/>
            <a:ext cx="115214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6B0E13"/>
                </a:solidFill>
                <a:latin typeface="Cairo"/>
              </a:rPr>
              <a:t>PHP 8.3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3474720"/>
            <a:ext cx="914400" cy="292608"/>
          </a:xfrm>
          <a:prstGeom prst="roundRect">
            <a:avLst/>
          </a:prstGeom>
          <a:solidFill>
            <a:srgbClr val="D9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3502152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6B0E13"/>
                </a:solidFill>
                <a:latin typeface="Cairo"/>
              </a:rPr>
              <a:t>MySQL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90288" y="3474720"/>
            <a:ext cx="1033271" cy="292608"/>
          </a:xfrm>
          <a:prstGeom prst="roundRect">
            <a:avLst/>
          </a:prstGeom>
          <a:solidFill>
            <a:srgbClr val="D9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3502152"/>
            <a:ext cx="1033271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6B0E13"/>
                </a:solidFill>
                <a:latin typeface="Cairo"/>
              </a:rPr>
              <a:t>Vue.js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1965960"/>
            <a:ext cx="54864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1965960"/>
            <a:ext cx="73152" cy="192024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378440" y="2148840"/>
            <a:ext cx="1097280" cy="320040"/>
          </a:xfrm>
          <a:prstGeom prst="rect">
            <a:avLst/>
          </a:prstGeom>
          <a:solidFill>
            <a:srgbClr val="8A6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78440" y="21854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iro"/>
              </a:rPr>
              <a:t>2022-2023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14884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6B0E13"/>
                </a:solidFill>
                <a:latin typeface="Cairo"/>
              </a:rPr>
              <a:t>بوابة خدمات متعددة اللغات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65176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بوابة ويب تفاعلية ثنائية اللغة مع Custom CMS مبنية من الصفر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474720"/>
            <a:ext cx="1152144" cy="292608"/>
          </a:xfrm>
          <a:prstGeom prst="roundRect">
            <a:avLst/>
          </a:prstGeom>
          <a:solidFill>
            <a:srgbClr val="D9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502152"/>
            <a:ext cx="115214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6B0E13"/>
                </a:solidFill>
                <a:latin typeface="Cairo"/>
              </a:rPr>
              <a:t>Laravel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62672" y="3474720"/>
            <a:ext cx="1271016" cy="292608"/>
          </a:xfrm>
          <a:prstGeom prst="roundRect">
            <a:avLst/>
          </a:prstGeom>
          <a:solidFill>
            <a:srgbClr val="D9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62672" y="3502152"/>
            <a:ext cx="127101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6B0E13"/>
                </a:solidFill>
                <a:latin typeface="Cairo"/>
              </a:rPr>
              <a:t>React.js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43416" y="3474720"/>
            <a:ext cx="914400" cy="292608"/>
          </a:xfrm>
          <a:prstGeom prst="roundRect">
            <a:avLst/>
          </a:prstGeom>
          <a:solidFill>
            <a:srgbClr val="D9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43416" y="3502152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6B0E13"/>
                </a:solidFill>
                <a:latin typeface="Cairo"/>
              </a:rPr>
              <a:t>MySQL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050792"/>
            <a:ext cx="54864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050792"/>
            <a:ext cx="73152" cy="1920240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663440" y="4233672"/>
            <a:ext cx="1097280" cy="320040"/>
          </a:xfrm>
          <a:prstGeom prst="rect">
            <a:avLst/>
          </a:prstGeom>
          <a:solidFill>
            <a:srgbClr val="8A6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42702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iro"/>
              </a:rPr>
              <a:t>2023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4233672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6B0E13"/>
                </a:solidFill>
                <a:latin typeface="Cairo"/>
              </a:rPr>
              <a:t>نظام سداد أقساط رقمية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4736592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نظام سداد متكامل لأقساط التمويل ورسوم الطلبات + محافظ رقمية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5559552"/>
            <a:ext cx="1152144" cy="292608"/>
          </a:xfrm>
          <a:prstGeom prst="roundRect">
            <a:avLst/>
          </a:prstGeom>
          <a:solidFill>
            <a:srgbClr val="D9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586984"/>
            <a:ext cx="115214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6B0E13"/>
                </a:solidFill>
                <a:latin typeface="Cairo"/>
              </a:rPr>
              <a:t>Laravel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947672" y="5559552"/>
            <a:ext cx="1152144" cy="292608"/>
          </a:xfrm>
          <a:prstGeom prst="roundRect">
            <a:avLst/>
          </a:prstGeom>
          <a:solidFill>
            <a:srgbClr val="D9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47672" y="5586984"/>
            <a:ext cx="115214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6B0E13"/>
                </a:solidFill>
                <a:latin typeface="Cairo"/>
              </a:rPr>
              <a:t>RESTful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09544" y="5559552"/>
            <a:ext cx="1508760" cy="292608"/>
          </a:xfrm>
          <a:prstGeom prst="roundRect">
            <a:avLst/>
          </a:prstGeom>
          <a:solidFill>
            <a:srgbClr val="D9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9544" y="5586984"/>
            <a:ext cx="1508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6B0E13"/>
                </a:solidFill>
                <a:latin typeface="Cairo"/>
              </a:rPr>
              <a:t>بوابات دفع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4050792"/>
            <a:ext cx="54864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72200" y="4050792"/>
            <a:ext cx="73152" cy="192024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378440" y="4233672"/>
            <a:ext cx="1097280" cy="320040"/>
          </a:xfrm>
          <a:prstGeom prst="rect">
            <a:avLst/>
          </a:prstGeom>
          <a:solidFill>
            <a:srgbClr val="8A6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378440" y="42702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iro"/>
              </a:rPr>
              <a:t>2022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4233672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 i="0">
                <a:solidFill>
                  <a:srgbClr val="6B0E13"/>
                </a:solidFill>
                <a:latin typeface="Cairo"/>
              </a:rPr>
              <a:t>هجرة وتوحيد قواعد بيانات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4736592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دمج قواعد بيانات منفصلة في قاعدة مركزية موحدة بترحيل آمن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0" y="5559552"/>
            <a:ext cx="914400" cy="292608"/>
          </a:xfrm>
          <a:prstGeom prst="roundRect">
            <a:avLst/>
          </a:prstGeom>
          <a:solidFill>
            <a:srgbClr val="D9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5586984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6B0E13"/>
                </a:solidFill>
                <a:latin typeface="Cairo"/>
              </a:rPr>
              <a:t>MySQL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24928" y="5559552"/>
            <a:ext cx="676656" cy="292608"/>
          </a:xfrm>
          <a:prstGeom prst="roundRect">
            <a:avLst/>
          </a:prstGeom>
          <a:solidFill>
            <a:srgbClr val="D9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24928" y="5586984"/>
            <a:ext cx="67665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6B0E13"/>
                </a:solidFill>
                <a:latin typeface="Cairo"/>
              </a:rPr>
              <a:t>ETL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11312" y="5559552"/>
            <a:ext cx="1271016" cy="292608"/>
          </a:xfrm>
          <a:prstGeom prst="roundRect">
            <a:avLst/>
          </a:prstGeom>
          <a:solidFill>
            <a:srgbClr val="D9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11312" y="5586984"/>
            <a:ext cx="127101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6B0E13"/>
                </a:solidFill>
                <a:latin typeface="Cairo"/>
              </a:rPr>
              <a:t>Rollback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z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6032"/>
            <a:ext cx="99479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 i="0">
                <a:solidFill>
                  <a:srgbClr val="6B0E13"/>
                </a:solidFill>
                <a:latin typeface="Cairo"/>
              </a:rPr>
              <a:t>العرض المالي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1444752"/>
            <a:ext cx="1463040" cy="3657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iro"/>
              </a:rPr>
              <a:t>تفصيل دقيق وشفّاف للتكاليف — حسب بنود المناقصة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iro"/>
              </a:rPr>
              <a:t>عرض فني ومالي  ·  مشروع تحديث الموقع الإلكتروني وبوابة العميل  ·  [اسم شركتك]  ·  سرّي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914400" cy="457200"/>
          </a:xfrm>
          <a:prstGeom prst="rect">
            <a:avLst/>
          </a:prstGeom>
          <a:solidFill>
            <a:srgbClr val="6B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3911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iro"/>
              </a:rPr>
              <a:t>#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965960"/>
            <a:ext cx="5760720" cy="457200"/>
          </a:xfrm>
          <a:prstGeom prst="rect">
            <a:avLst/>
          </a:prstGeom>
          <a:solidFill>
            <a:srgbClr val="6B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039112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iro"/>
              </a:rPr>
              <a:t>بند التكلفة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965960"/>
            <a:ext cx="2286000" cy="457200"/>
          </a:xfrm>
          <a:prstGeom prst="rect">
            <a:avLst/>
          </a:prstGeom>
          <a:solidFill>
            <a:srgbClr val="6B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03911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iro"/>
              </a:rPr>
              <a:t>الوزن الزمني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1965960"/>
            <a:ext cx="2286000" cy="457200"/>
          </a:xfrm>
          <a:prstGeom prst="rect">
            <a:avLst/>
          </a:prstGeom>
          <a:solidFill>
            <a:srgbClr val="6B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203911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iro"/>
              </a:rPr>
              <a:t>القيمة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42316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49631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6B0E13"/>
                </a:solidFill>
                <a:latin typeface="Cairo"/>
              </a:rPr>
              <a:t>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2423160"/>
            <a:ext cx="576072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2496312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التحليل وتصميم الواجهات (UI)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2423160"/>
            <a:ext cx="22860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249631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مرحلة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2423160"/>
            <a:ext cx="22860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249631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[تحديد]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834640"/>
            <a:ext cx="914400" cy="411480"/>
          </a:xfrm>
          <a:prstGeom prst="rect">
            <a:avLst/>
          </a:prstGeom>
          <a:solidFill>
            <a:srgbClr val="FDF2F3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90779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6B0E13"/>
                </a:solidFill>
                <a:latin typeface="Cairo"/>
              </a:rPr>
              <a:t>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2834640"/>
            <a:ext cx="5760720" cy="411480"/>
          </a:xfrm>
          <a:prstGeom prst="rect">
            <a:avLst/>
          </a:prstGeom>
          <a:solidFill>
            <a:srgbClr val="FDF2F3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2907792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التطوير البرمجي (Backend + APIs + Frontend + CMS)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0" y="2834640"/>
            <a:ext cx="2286000" cy="411480"/>
          </a:xfrm>
          <a:prstGeom prst="rect">
            <a:avLst/>
          </a:prstGeom>
          <a:solidFill>
            <a:srgbClr val="FDF2F3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0" y="290779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مرحلة 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18320" y="2834640"/>
            <a:ext cx="2286000" cy="411480"/>
          </a:xfrm>
          <a:prstGeom prst="rect">
            <a:avLst/>
          </a:prstGeom>
          <a:solidFill>
            <a:srgbClr val="FDF2F3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90779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[تحديد]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24612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31927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6B0E13"/>
                </a:solidFill>
                <a:latin typeface="Cairo"/>
              </a:rPr>
              <a:t>٣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3246120"/>
            <a:ext cx="576072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3319272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دمج وترحيل البيانات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0" y="3246120"/>
            <a:ext cx="22860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0" y="33192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مرحلة 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18320" y="3246120"/>
            <a:ext cx="22860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8320" y="33192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[تحديد]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657600"/>
            <a:ext cx="914400" cy="411480"/>
          </a:xfrm>
          <a:prstGeom prst="rect">
            <a:avLst/>
          </a:prstGeom>
          <a:solidFill>
            <a:srgbClr val="FDF2F3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73075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6B0E13"/>
                </a:solidFill>
                <a:latin typeface="Cairo"/>
              </a:rPr>
              <a:t>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71600" y="3657600"/>
            <a:ext cx="5760720" cy="411480"/>
          </a:xfrm>
          <a:prstGeom prst="rect">
            <a:avLst/>
          </a:prstGeom>
          <a:solidFill>
            <a:srgbClr val="FDF2F3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0" y="3730752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الاختبارات الشاملة (وظيفي/أداء/أمن/اختراق)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320" y="3657600"/>
            <a:ext cx="2286000" cy="411480"/>
          </a:xfrm>
          <a:prstGeom prst="rect">
            <a:avLst/>
          </a:prstGeom>
          <a:solidFill>
            <a:srgbClr val="FDF2F3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0" y="373075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مرحلة 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18320" y="3657600"/>
            <a:ext cx="2286000" cy="411480"/>
          </a:xfrm>
          <a:prstGeom prst="rect">
            <a:avLst/>
          </a:prstGeom>
          <a:solidFill>
            <a:srgbClr val="FDF2F3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18320" y="373075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[تحديد]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069080"/>
            <a:ext cx="9144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414223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6B0E13"/>
                </a:solidFill>
                <a:latin typeface="Cairo"/>
              </a:rPr>
              <a:t>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71600" y="4069080"/>
            <a:ext cx="576072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71600" y="4142232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التشغيل التجريبي والإطلاق (UAT + Go-Live)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32320" y="4069080"/>
            <a:ext cx="22860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32320" y="414223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مرحلة 5-6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18320" y="4069080"/>
            <a:ext cx="228600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18320" y="414223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[تحديد]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480560"/>
            <a:ext cx="914400" cy="411480"/>
          </a:xfrm>
          <a:prstGeom prst="rect">
            <a:avLst/>
          </a:prstGeom>
          <a:solidFill>
            <a:srgbClr val="FDF2F3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455371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6B0E13"/>
                </a:solidFill>
                <a:latin typeface="Cairo"/>
              </a:rPr>
              <a:t>٦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0" y="4480560"/>
            <a:ext cx="5760720" cy="411480"/>
          </a:xfrm>
          <a:prstGeom prst="rect">
            <a:avLst/>
          </a:prstGeom>
          <a:solidFill>
            <a:srgbClr val="FDF2F3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71600" y="4553712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الدعم الفني والصيانة المجانية (6 أشهر)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32320" y="4480560"/>
            <a:ext cx="2286000" cy="411480"/>
          </a:xfrm>
          <a:prstGeom prst="rect">
            <a:avLst/>
          </a:prstGeom>
          <a:solidFill>
            <a:srgbClr val="FDF2F3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32320" y="455371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0" i="0">
                <a:solidFill>
                  <a:srgbClr val="1E293B"/>
                </a:solidFill>
                <a:latin typeface="Cairo"/>
              </a:rPr>
              <a:t>مرحلة 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418320" y="4480560"/>
            <a:ext cx="2286000" cy="411480"/>
          </a:xfrm>
          <a:prstGeom prst="rect">
            <a:avLst/>
          </a:prstGeom>
          <a:solidFill>
            <a:srgbClr val="FDF2F3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18320" y="455371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15803D"/>
                </a:solidFill>
                <a:latin typeface="Cairo"/>
              </a:rPr>
              <a:t>مجاناً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4892040"/>
            <a:ext cx="6675120" cy="45720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4983480"/>
            <a:ext cx="6675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iro"/>
              </a:rPr>
              <a:t>التكلفة الإجمالية للمشروع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132320" y="4892040"/>
            <a:ext cx="2286000" cy="45720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132320" y="4983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iro"/>
              </a:rPr>
              <a:t>إجمالي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418320" y="4892040"/>
            <a:ext cx="2286000" cy="457200"/>
          </a:xfrm>
          <a:prstGeom prst="rect">
            <a:avLst/>
          </a:prstGeom>
          <a:solidFill>
            <a:srgbClr val="8A6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418320" y="4983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iro"/>
              </a:rPr>
              <a:t>[تحديد]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54406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1" i="0">
                <a:solidFill>
                  <a:srgbClr val="6B7280"/>
                </a:solidFill>
                <a:latin typeface="Cairo"/>
              </a:rPr>
              <a:t>بنود إضافية يغطّيها العرض المالي: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5715000"/>
            <a:ext cx="11247120" cy="822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400"/>
              </a:spcAft>
            </a:pPr>
            <a:r>
              <a:rPr sz="800" b="1">
                <a:solidFill>
                  <a:srgbClr val="8A6D20"/>
                </a:solidFill>
                <a:latin typeface="Cairo"/>
              </a:rPr>
              <a:t>✓  </a:t>
            </a:r>
            <a:r>
              <a:rPr sz="1100">
                <a:solidFill>
                  <a:srgbClr val="1E293B"/>
                </a:solidFill>
                <a:latin typeface="Cairo"/>
              </a:rPr>
              <a:t>تكلفة الصيانة السنوية بعد فترة الضمان  ·  أي تكاليف تراخيص أو أدوات خارجية إن وُجدت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 i="0">
                <a:solidFill>
                  <a:srgbClr val="6B0E13"/>
                </a:solidFill>
                <a:latin typeface="Cairo"/>
              </a:rPr>
              <a:t>التسعير المقترح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62895" y="1444752"/>
            <a:ext cx="1463040" cy="3657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iro"/>
              </a:rPr>
              <a:t>باقة متكاملة — تفصيل شفّاف قابل للتفاوض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iro"/>
              </a:rPr>
              <a:t>عرض فني ومالي  ·  مشروع تحديث الموقع الإلكتروني وبوابة العميل  ·  [اسم شركتك]  ·  سرّي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965960"/>
            <a:ext cx="5120640" cy="4160520"/>
          </a:xfrm>
          <a:prstGeom prst="rect">
            <a:avLst/>
          </a:prstGeom>
          <a:solidFill>
            <a:srgbClr val="6B0E13"/>
          </a:solidFill>
          <a:ln w="31750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875520" y="1801368"/>
            <a:ext cx="1828800" cy="365760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0" y="1847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1" i="0">
                <a:solidFill>
                  <a:srgbClr val="4A080C"/>
                </a:solidFill>
                <a:latin typeface="Cairo"/>
              </a:rPr>
              <a:t>★ الباقة الكاملة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2860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000" b="1" i="0">
                <a:solidFill>
                  <a:srgbClr val="C8A24B"/>
                </a:solidFill>
                <a:latin typeface="Cairo"/>
              </a:rPr>
              <a:t>العرض الشامل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7889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FFFFFF"/>
                </a:solidFill>
                <a:latin typeface="Cairo"/>
              </a:rPr>
              <a:t>All-Inclusive Package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2918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00" b="0" i="0">
                <a:solidFill>
                  <a:srgbClr val="CCCCCC"/>
                </a:solidFill>
                <a:latin typeface="Cairo"/>
              </a:rPr>
              <a:t>التكلفة الإجمالية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56616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iro"/>
              </a:rPr>
              <a:t>[ المبلغ الإجمالي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06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000" b="0" i="1">
                <a:solidFill>
                  <a:srgbClr val="C8A24B"/>
                </a:solidFill>
                <a:latin typeface="Cairo"/>
              </a:rPr>
              <a:t>شامل جميع البنود أدناه  ·  قابل للتفاوض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4572000"/>
            <a:ext cx="4572000" cy="600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4709160"/>
            <a:ext cx="4572000" cy="1371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r" rtl="1">
              <a:lnSpc>
                <a:spcPct val="140000"/>
              </a:lnSpc>
              <a:spcAft>
                <a:spcPts val="700"/>
              </a:spcAft>
            </a:pPr>
            <a:r>
              <a:rPr sz="900" b="1">
                <a:solidFill>
                  <a:srgbClr val="C8A24B"/>
                </a:solidFill>
                <a:latin typeface="Cairo"/>
              </a:rPr>
              <a:t>✓  </a:t>
            </a:r>
            <a:r>
              <a:rPr sz="1200">
                <a:solidFill>
                  <a:srgbClr val="FFFFFF"/>
                </a:solidFill>
                <a:latin typeface="Cairo"/>
              </a:rPr>
              <a:t>الموقع الإلكتروني + بوابة العميل كاملين</a:t>
            </a:r>
          </a:p>
          <a:p>
            <a:pPr algn="r" rtl="1">
              <a:lnSpc>
                <a:spcPct val="140000"/>
              </a:lnSpc>
              <a:spcAft>
                <a:spcPts val="700"/>
              </a:spcAft>
            </a:pPr>
            <a:r>
              <a:rPr sz="900" b="1">
                <a:solidFill>
                  <a:srgbClr val="C8A24B"/>
                </a:solidFill>
                <a:latin typeface="Cairo"/>
              </a:rPr>
              <a:t>✓  </a:t>
            </a:r>
            <a:r>
              <a:rPr sz="1200">
                <a:solidFill>
                  <a:srgbClr val="FFFFFF"/>
                </a:solidFill>
                <a:latin typeface="Cairo"/>
              </a:rPr>
              <a:t>Backend موحّد + Custom CMS من الصفر</a:t>
            </a:r>
          </a:p>
          <a:p>
            <a:pPr algn="r" rtl="1">
              <a:lnSpc>
                <a:spcPct val="140000"/>
              </a:lnSpc>
              <a:spcAft>
                <a:spcPts val="700"/>
              </a:spcAft>
            </a:pPr>
            <a:r>
              <a:rPr sz="900" b="1">
                <a:solidFill>
                  <a:srgbClr val="C8A24B"/>
                </a:solidFill>
                <a:latin typeface="Cairo"/>
              </a:rPr>
              <a:t>✓  </a:t>
            </a:r>
            <a:r>
              <a:rPr sz="1200">
                <a:solidFill>
                  <a:srgbClr val="FFFFFF"/>
                </a:solidFill>
                <a:latin typeface="Cairo"/>
              </a:rPr>
              <a:t>ترحيل 100% للبيانات + APIs متوافقة</a:t>
            </a:r>
          </a:p>
          <a:p>
            <a:pPr algn="r" rtl="1">
              <a:lnSpc>
                <a:spcPct val="140000"/>
              </a:lnSpc>
              <a:spcAft>
                <a:spcPts val="700"/>
              </a:spcAft>
            </a:pPr>
            <a:r>
              <a:rPr sz="900" b="1">
                <a:solidFill>
                  <a:srgbClr val="C8A24B"/>
                </a:solidFill>
                <a:latin typeface="Cairo"/>
              </a:rPr>
              <a:t>✓  </a:t>
            </a:r>
            <a:r>
              <a:rPr sz="1200">
                <a:solidFill>
                  <a:srgbClr val="FFFFFF"/>
                </a:solidFill>
                <a:latin typeface="Cairo"/>
              </a:rPr>
              <a:t>6 أشهر ضمان ودعم مجاني</a:t>
            </a:r>
          </a:p>
          <a:p>
            <a:pPr algn="r" rtl="1">
              <a:lnSpc>
                <a:spcPct val="140000"/>
              </a:lnSpc>
              <a:spcAft>
                <a:spcPts val="700"/>
              </a:spcAft>
            </a:pPr>
            <a:r>
              <a:rPr sz="900" b="1">
                <a:solidFill>
                  <a:srgbClr val="C8A24B"/>
                </a:solidFill>
                <a:latin typeface="Cairo"/>
              </a:rPr>
              <a:t>✓  </a:t>
            </a:r>
            <a:r>
              <a:rPr sz="1200">
                <a:solidFill>
                  <a:srgbClr val="FFFFFF"/>
                </a:solidFill>
                <a:latin typeface="Cairo"/>
              </a:rPr>
              <a:t>نقل معرفة كاملة + ورش تدريب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965960"/>
            <a:ext cx="5760720" cy="1298448"/>
          </a:xfrm>
          <a:prstGeom prst="rect">
            <a:avLst/>
          </a:prstGeom>
          <a:solidFill>
            <a:srgbClr val="FDF2F3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1965960"/>
            <a:ext cx="73152" cy="129844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0574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6B0E13"/>
                </a:solidFill>
                <a:latin typeface="Cairo"/>
              </a:rPr>
              <a:t>التنفيذ والتطوير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4414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iro"/>
              </a:rPr>
              <a:t>بنود المراحل 1-4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13055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A7171D"/>
                </a:solidFill>
                <a:latin typeface="Cairo"/>
              </a:rPr>
              <a:t>[ تحديد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2770632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000" b="0" i="0">
                <a:solidFill>
                  <a:srgbClr val="1E293B"/>
                </a:solidFill>
                <a:latin typeface="Cairo"/>
              </a:rPr>
              <a:t>التحليل وتصميم UI  ·  التطوير البرمجي كاملاً  ·  ترحيل البيانات  ·  الاختبارات الشاملة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374136"/>
            <a:ext cx="5760720" cy="1298448"/>
          </a:xfrm>
          <a:prstGeom prst="rect">
            <a:avLst/>
          </a:prstGeom>
          <a:solidFill>
            <a:srgbClr val="FEFAEB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374136"/>
            <a:ext cx="73152" cy="1298448"/>
          </a:xfrm>
          <a:prstGeom prst="rect">
            <a:avLst/>
          </a:prstGeom>
          <a:solidFill>
            <a:srgbClr val="8A6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46557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6B0E13"/>
                </a:solidFill>
                <a:latin typeface="Cairo"/>
              </a:rPr>
              <a:t>الإطلاق والضمان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84962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iro"/>
              </a:rPr>
              <a:t>بنود المراحل 5-7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3538728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8A6D20"/>
                </a:solidFill>
                <a:latin typeface="Cairo"/>
              </a:rPr>
              <a:t>[ تحديد 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178808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000" b="0" i="0">
                <a:solidFill>
                  <a:srgbClr val="1E293B"/>
                </a:solidFill>
                <a:latin typeface="Cairo"/>
              </a:rPr>
              <a:t>التشغيل التجريبي UAT  ·  الإطلاح Go-Live  ·  ضمان 6 أشهر  ·  نقل المعرفة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782312"/>
            <a:ext cx="5760720" cy="1298448"/>
          </a:xfrm>
          <a:prstGeom prst="rect">
            <a:avLst/>
          </a:prstGeom>
          <a:solidFill>
            <a:srgbClr val="F3F4F6"/>
          </a:solidFill>
          <a:ln w="762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782312"/>
            <a:ext cx="73152" cy="129844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8737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6B0E13"/>
                </a:solidFill>
                <a:latin typeface="Cairo"/>
              </a:rPr>
              <a:t>الصيانة السنوية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257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iro"/>
              </a:rPr>
              <a:t>ما بعد فترة الضمان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946904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6B7280"/>
                </a:solidFill>
                <a:latin typeface="Cairo"/>
              </a:rPr>
              <a:t>[ تحديد / سنوياً 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586984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000" b="0" i="0">
                <a:solidFill>
                  <a:srgbClr val="1E293B"/>
                </a:solidFill>
                <a:latin typeface="Cairo"/>
              </a:rPr>
              <a:t>دعم فني مستمر  ·  صيانة وقائية  ·  تحديثات أمنية  ·  استجابة طوارئ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00" b="1" i="0">
                <a:solidFill>
                  <a:srgbClr val="15803D"/>
                </a:solidFill>
                <a:latin typeface="Cairo"/>
              </a:rPr>
              <a:t>✓ لا تكاليف خفية  ·  ✓ جميع الأسعار تشمل الترحيل والاختبارات واختبار الاختراق  ·  ✓ دفع على دفعات حسب المراحل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6032"/>
            <a:ext cx="994791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z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6032"/>
            <a:ext cx="99479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00" b="1" i="0">
                <a:solidFill>
                  <a:srgbClr val="6B0E13"/>
                </a:solidFill>
                <a:latin typeface="Cairo"/>
              </a:rPr>
              <a:t>معايير القبول والالتزامات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62895" y="1444752"/>
            <a:ext cx="1463040" cy="3657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iro"/>
              </a:rPr>
              <a:t>ضمانات واضحة — لا يُعتمد المشروع إلا بتحققها مجتمعة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iro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77295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900" b="0" i="0">
                <a:solidFill>
                  <a:srgbClr val="6B7280"/>
                </a:solidFill>
                <a:latin typeface="Cairo"/>
              </a:rPr>
              <a:t>عرض فني ومالي  ·  مشروع تحديث الموقع الإلكتروني وبوابة العميل  ·  [اسم شركتك]  ·  سرّي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920240"/>
            <a:ext cx="5440680" cy="5029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75104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iro"/>
              </a:rPr>
              <a:t>معايير القبول النهائي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423160"/>
            <a:ext cx="5440680" cy="3520440"/>
          </a:xfrm>
          <a:prstGeom prst="rect">
            <a:avLst/>
          </a:prstGeom>
          <a:solidFill>
            <a:srgbClr val="F0FDF4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606040"/>
            <a:ext cx="5029200" cy="32004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r" rtl="1">
              <a:lnSpc>
                <a:spcPct val="150000"/>
              </a:lnSpc>
              <a:spcAft>
                <a:spcPts val="1200"/>
              </a:spcAft>
            </a:pPr>
            <a:r>
              <a:rPr sz="1000" b="1">
                <a:solidFill>
                  <a:srgbClr val="15803D"/>
                </a:solidFill>
                <a:latin typeface="Cairo"/>
              </a:rPr>
              <a:t>✓  </a:t>
            </a:r>
            <a:r>
              <a:rPr sz="1300">
                <a:solidFill>
                  <a:srgbClr val="1E293B"/>
                </a:solidFill>
                <a:latin typeface="Cairo"/>
              </a:rPr>
              <a:t>نجاح جميع الاختبارات الفنية دون استثناء</a:t>
            </a:r>
          </a:p>
          <a:p>
            <a:pPr algn="r" rtl="1">
              <a:lnSpc>
                <a:spcPct val="150000"/>
              </a:lnSpc>
              <a:spcAft>
                <a:spcPts val="1200"/>
              </a:spcAft>
            </a:pPr>
            <a:r>
              <a:rPr sz="1000" b="1">
                <a:solidFill>
                  <a:srgbClr val="15803D"/>
                </a:solidFill>
                <a:latin typeface="Cairo"/>
              </a:rPr>
              <a:t>✓  </a:t>
            </a:r>
            <a:r>
              <a:rPr sz="1300">
                <a:solidFill>
                  <a:srgbClr val="1E293B"/>
                </a:solidFill>
                <a:latin typeface="Cairo"/>
              </a:rPr>
              <a:t>نجاح ترحيل البيانات بنسبة 100%</a:t>
            </a:r>
          </a:p>
          <a:p>
            <a:pPr algn="r" rtl="1">
              <a:lnSpc>
                <a:spcPct val="150000"/>
              </a:lnSpc>
              <a:spcAft>
                <a:spcPts val="1200"/>
              </a:spcAft>
            </a:pPr>
            <a:r>
              <a:rPr sz="1000" b="1">
                <a:solidFill>
                  <a:srgbClr val="15803D"/>
                </a:solidFill>
                <a:latin typeface="Cairo"/>
              </a:rPr>
              <a:t>✓  </a:t>
            </a:r>
            <a:r>
              <a:rPr sz="1300">
                <a:solidFill>
                  <a:srgbClr val="1E293B"/>
                </a:solidFill>
                <a:latin typeface="Cairo"/>
              </a:rPr>
              <a:t>توافق تطبيق الهاتف وعمله دون انقطاع</a:t>
            </a:r>
          </a:p>
          <a:p>
            <a:pPr algn="r" rtl="1">
              <a:lnSpc>
                <a:spcPct val="150000"/>
              </a:lnSpc>
              <a:spcAft>
                <a:spcPts val="1200"/>
              </a:spcAft>
            </a:pPr>
            <a:r>
              <a:rPr sz="1000" b="1">
                <a:solidFill>
                  <a:srgbClr val="15803D"/>
                </a:solidFill>
                <a:latin typeface="Cairo"/>
              </a:rPr>
              <a:t>✓  </a:t>
            </a:r>
            <a:r>
              <a:rPr sz="1300">
                <a:solidFill>
                  <a:srgbClr val="1E293B"/>
                </a:solidFill>
                <a:latin typeface="Cairo"/>
              </a:rPr>
              <a:t>إغلاق كل الثغرات والأخطاء الحرجة</a:t>
            </a:r>
          </a:p>
          <a:p>
            <a:pPr algn="r" rtl="1">
              <a:lnSpc>
                <a:spcPct val="150000"/>
              </a:lnSpc>
              <a:spcAft>
                <a:spcPts val="1200"/>
              </a:spcAft>
            </a:pPr>
            <a:r>
              <a:rPr sz="1000" b="1">
                <a:solidFill>
                  <a:srgbClr val="15803D"/>
                </a:solidFill>
                <a:latin typeface="Cairo"/>
              </a:rPr>
              <a:t>✓  </a:t>
            </a:r>
            <a:r>
              <a:rPr sz="1300">
                <a:solidFill>
                  <a:srgbClr val="1E293B"/>
                </a:solidFill>
                <a:latin typeface="Cairo"/>
              </a:rPr>
              <a:t>الحصول على الاعتماد الرسمي من إدارة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5486400" cy="502920"/>
          </a:xfrm>
          <a:prstGeom prst="rect">
            <a:avLst/>
          </a:prstGeom>
          <a:solidFill>
            <a:srgbClr val="6B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975104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iro"/>
              </a:rPr>
              <a:t>التزاماتنا التعاقدية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23160"/>
            <a:ext cx="5486400" cy="3520440"/>
          </a:xfrm>
          <a:prstGeom prst="rect">
            <a:avLst/>
          </a:prstGeom>
          <a:solidFill>
            <a:srgbClr val="FDF2F3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606040"/>
            <a:ext cx="5029200" cy="32004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r" rtl="1">
              <a:lnSpc>
                <a:spcPct val="140000"/>
              </a:lnSpc>
              <a:spcAft>
                <a:spcPts val="700"/>
              </a:spcAft>
            </a:pPr>
            <a:r>
              <a:rPr sz="900" b="1">
                <a:solidFill>
                  <a:srgbClr val="6B0E13"/>
                </a:solidFill>
                <a:latin typeface="Cairo"/>
              </a:rPr>
              <a:t>✓  </a:t>
            </a:r>
            <a:r>
              <a:rPr sz="1200">
                <a:solidFill>
                  <a:srgbClr val="1E293B"/>
                </a:solidFill>
                <a:latin typeface="Cairo"/>
              </a:rPr>
              <a:t>ملكية كاملة للأكواد والبيانات لبرنامج آزال</a:t>
            </a:r>
          </a:p>
          <a:p>
            <a:pPr algn="r" rtl="1">
              <a:lnSpc>
                <a:spcPct val="140000"/>
              </a:lnSpc>
              <a:spcAft>
                <a:spcPts val="700"/>
              </a:spcAft>
            </a:pPr>
            <a:r>
              <a:rPr sz="900" b="1">
                <a:solidFill>
                  <a:srgbClr val="6B0E13"/>
                </a:solidFill>
                <a:latin typeface="Cairo"/>
              </a:rPr>
              <a:t>✓  </a:t>
            </a:r>
            <a:r>
              <a:rPr sz="1200">
                <a:solidFill>
                  <a:srgbClr val="1E293B"/>
                </a:solidFill>
                <a:latin typeface="Cairo"/>
              </a:rPr>
              <a:t>تسليم الكود كاملاً نظيفاً غير مشفّر</a:t>
            </a:r>
          </a:p>
          <a:p>
            <a:pPr algn="r" rtl="1">
              <a:lnSpc>
                <a:spcPct val="140000"/>
              </a:lnSpc>
              <a:spcAft>
                <a:spcPts val="700"/>
              </a:spcAft>
            </a:pPr>
            <a:r>
              <a:rPr sz="900" b="1">
                <a:solidFill>
                  <a:srgbClr val="6B0E13"/>
                </a:solidFill>
                <a:latin typeface="Cairo"/>
              </a:rPr>
              <a:t>✓  </a:t>
            </a:r>
            <a:r>
              <a:rPr sz="1200">
                <a:solidFill>
                  <a:srgbClr val="1E293B"/>
                </a:solidFill>
                <a:latin typeface="Cairo"/>
              </a:rPr>
              <a:t>لا مكتبات مدفوعة إلا بموافقة البرنامج</a:t>
            </a:r>
          </a:p>
          <a:p>
            <a:pPr algn="r" rtl="1">
              <a:lnSpc>
                <a:spcPct val="140000"/>
              </a:lnSpc>
              <a:spcAft>
                <a:spcPts val="700"/>
              </a:spcAft>
            </a:pPr>
            <a:r>
              <a:rPr sz="900" b="1">
                <a:solidFill>
                  <a:srgbClr val="6B0E13"/>
                </a:solidFill>
                <a:latin typeface="Cairo"/>
              </a:rPr>
              <a:t>✓  </a:t>
            </a:r>
            <a:r>
              <a:rPr sz="1200">
                <a:solidFill>
                  <a:srgbClr val="1E293B"/>
                </a:solidFill>
                <a:latin typeface="Cairo"/>
              </a:rPr>
              <a:t>توثيق شامل لكل مكونات النظام</a:t>
            </a:r>
          </a:p>
          <a:p>
            <a:pPr algn="r" rtl="1">
              <a:lnSpc>
                <a:spcPct val="140000"/>
              </a:lnSpc>
              <a:spcAft>
                <a:spcPts val="700"/>
              </a:spcAft>
            </a:pPr>
            <a:r>
              <a:rPr sz="900" b="1">
                <a:solidFill>
                  <a:srgbClr val="6B0E13"/>
                </a:solidFill>
                <a:latin typeface="Cairo"/>
              </a:rPr>
              <a:t>✓  </a:t>
            </a:r>
            <a:r>
              <a:rPr sz="1200">
                <a:solidFill>
                  <a:srgbClr val="1E293B"/>
                </a:solidFill>
                <a:latin typeface="Cairo"/>
              </a:rPr>
              <a:t>سرية تامة للبيانات أثناء التنفيذ</a:t>
            </a:r>
          </a:p>
          <a:p>
            <a:pPr algn="r" rtl="1">
              <a:lnSpc>
                <a:spcPct val="140000"/>
              </a:lnSpc>
              <a:spcAft>
                <a:spcPts val="700"/>
              </a:spcAft>
            </a:pPr>
            <a:r>
              <a:rPr sz="900" b="1">
                <a:solidFill>
                  <a:srgbClr val="6B0E13"/>
                </a:solidFill>
                <a:latin typeface="Cairo"/>
              </a:rPr>
              <a:t>✓  </a:t>
            </a:r>
            <a:r>
              <a:rPr sz="1200">
                <a:solidFill>
                  <a:srgbClr val="1E293B"/>
                </a:solidFill>
                <a:latin typeface="Cairo"/>
              </a:rPr>
              <a:t>اعتماد مرحلي قبل كل مرحلة</a:t>
            </a:r>
          </a:p>
          <a:p>
            <a:pPr algn="r" rtl="1">
              <a:lnSpc>
                <a:spcPct val="140000"/>
              </a:lnSpc>
              <a:spcAft>
                <a:spcPts val="700"/>
              </a:spcAft>
            </a:pPr>
            <a:r>
              <a:rPr sz="900" b="1">
                <a:solidFill>
                  <a:srgbClr val="6B0E13"/>
                </a:solidFill>
                <a:latin typeface="Cairo"/>
              </a:rPr>
              <a:t>✓  </a:t>
            </a:r>
            <a:r>
              <a:rPr sz="1200">
                <a:solidFill>
                  <a:srgbClr val="1E293B"/>
                </a:solidFill>
                <a:latin typeface="Cairo"/>
              </a:rPr>
              <a:t>نقل معرفة كاملة + ورش تدريب لفريق 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A7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389120"/>
            <a:ext cx="4114800" cy="4114800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z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65798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55448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i="0">
                <a:solidFill>
                  <a:srgbClr val="C8A24B"/>
                </a:solidFill>
                <a:latin typeface="Cairo"/>
              </a:rPr>
              <a:t>لماذا نحن؟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3000" b="1" i="0">
                <a:solidFill>
                  <a:srgbClr val="FFFFFF"/>
                </a:solidFill>
                <a:latin typeface="Cairo"/>
              </a:rPr>
              <a:t>شريك تقني يفهم قيود التشغيل</a:t>
            </a:r>
          </a:p>
          <a:p>
            <a:pPr algn="ctr" rtl="1">
              <a:lnSpc>
                <a:spcPct val="120000"/>
              </a:lnSpc>
            </a:pPr>
            <a:r>
              <a:rPr sz="3000" b="1" i="0">
                <a:solidFill>
                  <a:srgbClr val="FFFFFF"/>
                </a:solidFill>
                <a:latin typeface="Cairo"/>
              </a:rPr>
              <a:t>ويُسلّم نظاماً موحّداً يليق بآزال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3657600"/>
            <a:ext cx="1371600" cy="4572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5439" y="4114800"/>
            <a:ext cx="2651760" cy="1371600"/>
          </a:xfrm>
          <a:prstGeom prst="roundRect">
            <a:avLst/>
          </a:prstGeom>
          <a:noFill/>
          <a:ln w="19050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5439" y="43434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1" i="0">
                <a:solidFill>
                  <a:srgbClr val="C8A24B"/>
                </a:solidFill>
                <a:latin typeface="Cairo"/>
              </a:rPr>
              <a:t>خبرة مثبتة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599" y="48463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Cairo"/>
              </a:rPr>
              <a:t>في إعادة هندسة الأنظمة وتوحيدها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1791" y="4114800"/>
            <a:ext cx="2651760" cy="1371600"/>
          </a:xfrm>
          <a:prstGeom prst="roundRect">
            <a:avLst/>
          </a:prstGeom>
          <a:noFill/>
          <a:ln w="19050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1791" y="43434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1" i="0">
                <a:solidFill>
                  <a:srgbClr val="C8A24B"/>
                </a:solidFill>
                <a:latin typeface="Cairo"/>
              </a:rPr>
              <a:t>إتقان Laravel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8951" y="48463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Cairo"/>
              </a:rPr>
              <a:t>+ React/Vue + MySQL + RESTful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8143" y="4114800"/>
            <a:ext cx="2651760" cy="1371600"/>
          </a:xfrm>
          <a:prstGeom prst="roundRect">
            <a:avLst/>
          </a:prstGeom>
          <a:noFill/>
          <a:ln w="19050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8143" y="43434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1" i="0">
                <a:solidFill>
                  <a:srgbClr val="C8A24B"/>
                </a:solidFill>
                <a:latin typeface="Cairo"/>
              </a:rPr>
              <a:t>التزام صارم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5303" y="48463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Cairo"/>
              </a:rPr>
              <a:t>بكل قيود المناقصة دون استثناء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4495" y="4114800"/>
            <a:ext cx="2651760" cy="1371600"/>
          </a:xfrm>
          <a:prstGeom prst="roundRect">
            <a:avLst/>
          </a:prstGeom>
          <a:noFill/>
          <a:ln w="19050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4495" y="43434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1" i="0">
                <a:solidFill>
                  <a:srgbClr val="C8A24B"/>
                </a:solidFill>
                <a:latin typeface="Cairo"/>
              </a:rPr>
              <a:t>نقل معرفة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1655" y="48463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Cairo"/>
              </a:rPr>
              <a:t>كاملة + 6 أشهر ضمان ودعم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5760720"/>
            <a:ext cx="5760720" cy="640080"/>
          </a:xfrm>
          <a:prstGeom prst="round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589788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 i="0">
                <a:solidFill>
                  <a:srgbClr val="4A080C"/>
                </a:solidFill>
                <a:latin typeface="Cairo"/>
              </a:rPr>
              <a:t>شكراً لكم — نرحّب بأسئلتكم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537960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C8A24B"/>
                </a:solidFill>
                <a:latin typeface="Cairo"/>
              </a:rPr>
              <a:t>[اسم شركتك]  ·  [هاتف]  ·  [بريد إلكتروني]  ·  يوليو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